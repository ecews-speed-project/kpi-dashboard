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comments/modernComment_D68_148A06D7.xml" ContentType="application/vnd.ms-powerpoint.comments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comments/modernComment_D6E_CFEA62D2.xml" ContentType="application/vnd.ms-powerpoint.comments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comments/modernComment_D65_E6922D07.xml" ContentType="application/vnd.ms-powerpoint.comments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416" r:id="rId2"/>
    <p:sldId id="3427" r:id="rId3"/>
    <p:sldId id="3432" r:id="rId4"/>
    <p:sldId id="3438" r:id="rId5"/>
    <p:sldId id="3437" r:id="rId6"/>
    <p:sldId id="3428" r:id="rId7"/>
    <p:sldId id="3429" r:id="rId8"/>
    <p:sldId id="3431" r:id="rId9"/>
    <p:sldId id="3433" r:id="rId10"/>
    <p:sldId id="3436" r:id="rId11"/>
    <p:sldId id="3434" r:id="rId12"/>
    <p:sldId id="3439" r:id="rId13"/>
    <p:sldId id="3435" r:id="rId14"/>
    <p:sldId id="343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EACC9D-DC91-2262-F664-6AD8CB760907}" name="Fagbemi, Ayodele (CDC/GHC/DGHT)" initials="AF" userId="S::noh0@cdc.gov::a88da4ff-1245-486c-8336-cc38dea49e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neoma Onuoha" userId="f74926c8-a6e9-4e4f-bc05-b40d47ba9003" providerId="ADAL" clId="{CBA61730-683B-4051-B842-ED72F3B52C3F}"/>
    <pc:docChg chg="modSld">
      <pc:chgData name="Nneoma Onuoha" userId="f74926c8-a6e9-4e4f-bc05-b40d47ba9003" providerId="ADAL" clId="{CBA61730-683B-4051-B842-ED72F3B52C3F}" dt="2026-10-26T12:46:50.508" v="2" actId="20577"/>
      <pc:docMkLst>
        <pc:docMk/>
      </pc:docMkLst>
      <pc:sldChg chg="modSp mod">
        <pc:chgData name="Nneoma Onuoha" userId="f74926c8-a6e9-4e4f-bc05-b40d47ba9003" providerId="ADAL" clId="{CBA61730-683B-4051-B842-ED72F3B52C3F}" dt="2026-10-26T12:46:50.508" v="2" actId="20577"/>
        <pc:sldMkLst>
          <pc:docMk/>
          <pc:sldMk cId="1933875295" sldId="3430"/>
        </pc:sldMkLst>
        <pc:spChg chg="mod">
          <ac:chgData name="Nneoma Onuoha" userId="f74926c8-a6e9-4e4f-bc05-b40d47ba9003" providerId="ADAL" clId="{CBA61730-683B-4051-B842-ED72F3B52C3F}" dt="2026-10-26T12:46:50.508" v="2" actId="20577"/>
          <ac:spMkLst>
            <pc:docMk/>
            <pc:sldMk cId="1933875295" sldId="3430"/>
            <ac:spMk id="3" creationId="{52F806D2-472D-2FCD-3358-1EA48CA4408B}"/>
          </ac:spMkLst>
        </pc:spChg>
      </pc:sldChg>
    </pc:docChg>
  </pc:docChgLst>
</pc:chgInfo>
</file>

<file path=ppt/comments/modernComment_D6E_CFEA62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9E0D90-6DB5-4660-B323-94CBB85E34D4}" authorId="{A1EACC9D-DC91-2262-F664-6AD8CB760907}" created="2026-10-22T10:26:56.812">
    <pc:sldMkLst xmlns:pc="http://schemas.microsoft.com/office/powerpoint/2013/main/command">
      <pc:docMk/>
      <pc:sldMk cId="3488244434" sldId="3438"/>
    </pc:sldMkLst>
    <p188:txBody>
      <a:bodyPr/>
      <a:lstStyle/>
      <a:p>
        <a:r>
          <a:rPr lang="en-US"/>
          <a:t>Same comment as above.</a:t>
        </a:r>
      </a:p>
    </p188:txBody>
  </p188:cm>
</p188:cmLst>
</file>

<file path=ppt/comments/modernComment_D65_E6922D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FBA4F9-B807-4163-AB8D-BF802BAFA08B}" authorId="{A1EACC9D-DC91-2262-F664-6AD8CB760907}" created="2026-10-22T10:28:15.9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68339463" sldId="3429"/>
      <ac:graphicFrameMk id="2" creationId="{D5AC12B8-4E17-3B43-411A-DEE9925A8A09}"/>
    </ac:deMkLst>
    <p188:txBody>
      <a:bodyPr/>
      <a:lstStyle/>
      <a:p>
        <a:r>
          <a:rPr lang="en-US"/>
          <a:t>Is this at collation level by CDC for all the states?</a:t>
        </a:r>
      </a:p>
    </p188:txBody>
  </p188:cm>
</p188:cmLst>
</file>

<file path=ppt/comments/modernComment_D68_148A06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9E44D4-78B1-4822-8D7D-D31C90AFFCC2}" authorId="{A1EACC9D-DC91-2262-F664-6AD8CB760907}" created="2026-10-22T10:24:52.115">
    <pc:sldMkLst xmlns:pc="http://schemas.microsoft.com/office/powerpoint/2013/main/command">
      <pc:docMk/>
      <pc:sldMk cId="344590039" sldId="3432"/>
    </pc:sldMkLst>
    <p188:txBody>
      <a:bodyPr/>
      <a:lstStyle/>
      <a:p>
        <a:r>
          <a:rPr lang="en-US"/>
          <a:t>Move positivity rate column to after HTS_TST_POS column.
2. Since MER have been retired, can we deploy MOU metrics languages??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D5F26-57BD-4AA2-8708-798AFFBF437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D6540-F271-40DD-9A52-A50A18580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86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Myriad Web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Web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Web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Web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Web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Web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Web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Web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Web Pro" panose="020B0503030403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084AA2-EDF3-41B6-9BD5-4D1331E35CE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89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062C-351D-C1B6-BB76-57176DFB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EA824-A89F-56D4-015B-82A171154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2BDE7-6B0F-6237-0361-7F03CE5DD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45C5B-6827-8A49-CBD6-FF0757099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800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DC6F2-3171-59D0-E722-0BAD92E6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A9EFA-5BC4-90E9-E908-4B21B5BA8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1E4E8-5D0E-AB49-288B-CBE105B7A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F2072-61DB-BFE6-A730-885A1C6E9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702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7320F-C86F-C520-6926-79CF36C0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2E935-6945-0B9F-1F8A-B18DD8E29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714C9-CA68-6EEB-3BE4-8BDB0F4A2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189A0-12D0-34A3-47B0-4DE14A630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153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7DAC1-6EB5-8325-CF8D-749A725A8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D4E1C-837B-C1DF-A105-223CA31ED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5D6C1-6438-ADD5-C125-C19C8832B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B4346-D0FE-7261-606C-6FD637953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440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BF35-E024-AA41-BCCA-037C54D4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D3577-B758-252B-8F7F-7D8894CBD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42F63-CC53-6489-0EA7-98C2BB754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3F7EC-D137-981B-54DE-F7EB479A1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5592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5BD5-662B-8DF5-02CD-5AF9E9F5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65B6A-0FE8-85C2-D4C7-8AAE7BF5D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E9439-AF37-ADFE-6DB1-DB9E2B59F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F6E3B-3C18-A614-9C63-094230A7C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410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925E2-50B6-8C3E-198B-C26E8347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9C07F-7522-1786-7639-255C4736E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FD748-68CE-D39A-01B4-D1DC61678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2CBFE-1FE8-3C75-8414-9A6F3244E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556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5D73E-2C32-AEE4-01EB-567489FD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AB32C-60AA-A031-7CAE-4D2FA2E22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45BB0-43A0-4D5C-DC85-0F3E5FFBA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DE6B-A723-6F62-9938-3F5C06001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854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46147-FBC1-D3C1-7784-6B35F210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CACB2-52C5-3B8F-F3B9-1659B0E0E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E94D2-624F-99A0-C438-9D79DA640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0BA8B-21BB-05FE-872B-CBA86E692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965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DE09E-ABC8-5FA6-49B3-EA113E64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6F96F-6DB5-9881-3355-D93CF4034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85DDA-31AB-4864-335A-09542A0EE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A0AB2-DF55-8232-6ED2-BCBEFCE0B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460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6F8FD-2F90-6939-1259-FEA6CCCD2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456C9-FF9A-E195-E017-059E8DB4F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752F5-E35A-F681-AF40-E4F7F8114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FD699-A285-E8FA-16A0-FC860A2A2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023149-6ACD-415A-97FF-4546FD03C9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952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_CDC_alt_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4309823-E745-9AE6-697D-FA12A6546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92000" cy="228600"/>
            <a:chOff x="0" y="0"/>
            <a:chExt cx="9144000" cy="17145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E8587A6-7C1A-EC72-C16A-98204569B3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9144000" cy="171350"/>
            </a:xfrm>
            <a:prstGeom prst="rect">
              <a:avLst/>
            </a:prstGeom>
            <a:solidFill>
              <a:srgbClr val="1E6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 dirty="0"/>
            </a:p>
          </p:txBody>
        </p:sp>
        <p:sp>
          <p:nvSpPr>
            <p:cNvPr id="44" name="Parallelogram 9">
              <a:extLst>
                <a:ext uri="{FF2B5EF4-FFF2-40B4-BE49-F238E27FC236}">
                  <a16:creationId xmlns:a16="http://schemas.microsoft.com/office/drawing/2014/main" id="{EA18C2A9-CD91-4656-D4FD-18B4B82E4B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" y="100"/>
              <a:ext cx="734284" cy="171350"/>
            </a:xfrm>
            <a:custGeom>
              <a:avLst/>
              <a:gdLst>
                <a:gd name="connsiteX0" fmla="*/ 0 w 2399861"/>
                <a:gd name="connsiteY0" fmla="*/ 668592 h 668592"/>
                <a:gd name="connsiteX1" fmla="*/ 167148 w 2399861"/>
                <a:gd name="connsiteY1" fmla="*/ 0 h 668592"/>
                <a:gd name="connsiteX2" fmla="*/ 2399861 w 2399861"/>
                <a:gd name="connsiteY2" fmla="*/ 0 h 668592"/>
                <a:gd name="connsiteX3" fmla="*/ 2232713 w 2399861"/>
                <a:gd name="connsiteY3" fmla="*/ 668592 h 668592"/>
                <a:gd name="connsiteX4" fmla="*/ 0 w 2399861"/>
                <a:gd name="connsiteY4" fmla="*/ 668592 h 668592"/>
                <a:gd name="connsiteX0" fmla="*/ 0 w 2261638"/>
                <a:gd name="connsiteY0" fmla="*/ 668592 h 668592"/>
                <a:gd name="connsiteX1" fmla="*/ 28925 w 2261638"/>
                <a:gd name="connsiteY1" fmla="*/ 0 h 668592"/>
                <a:gd name="connsiteX2" fmla="*/ 2261638 w 2261638"/>
                <a:gd name="connsiteY2" fmla="*/ 0 h 668592"/>
                <a:gd name="connsiteX3" fmla="*/ 2094490 w 2261638"/>
                <a:gd name="connsiteY3" fmla="*/ 668592 h 668592"/>
                <a:gd name="connsiteX4" fmla="*/ 0 w 2261638"/>
                <a:gd name="connsiteY4" fmla="*/ 668592 h 66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638" h="668592">
                  <a:moveTo>
                    <a:pt x="0" y="668592"/>
                  </a:moveTo>
                  <a:lnTo>
                    <a:pt x="28925" y="0"/>
                  </a:lnTo>
                  <a:lnTo>
                    <a:pt x="2261638" y="0"/>
                  </a:lnTo>
                  <a:lnTo>
                    <a:pt x="2094490" y="668592"/>
                  </a:lnTo>
                  <a:lnTo>
                    <a:pt x="0" y="668592"/>
                  </a:lnTo>
                  <a:close/>
                </a:path>
              </a:pathLst>
            </a:custGeom>
            <a:solidFill>
              <a:srgbClr val="1643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AE0A8C09-00C3-D95E-B5DA-0F0A402DC7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62891" y="100"/>
              <a:ext cx="1398588" cy="171350"/>
            </a:xfrm>
            <a:prstGeom prst="parallelogram">
              <a:avLst/>
            </a:prstGeom>
            <a:solidFill>
              <a:srgbClr val="194D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B944134F-25AD-BEB2-C0BF-43DF4B11FC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537538" y="100"/>
              <a:ext cx="1825143" cy="171350"/>
            </a:xfrm>
            <a:prstGeom prst="parallelogram">
              <a:avLst/>
            </a:prstGeom>
            <a:solidFill>
              <a:srgbClr val="1C56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A01506F6-4045-30A7-1967-7A22720678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71812" y="100"/>
              <a:ext cx="2201282" cy="171350"/>
            </a:xfrm>
            <a:prstGeom prst="parallelogram">
              <a:avLst/>
            </a:prstGeom>
            <a:solidFill>
              <a:srgbClr val="1E5D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 dirty="0"/>
            </a:p>
          </p:txBody>
        </p:sp>
      </p:grpSp>
      <p:sp>
        <p:nvSpPr>
          <p:cNvPr id="7" name="Title 1"/>
          <p:cNvSpPr>
            <a:spLocks noGrp="1"/>
          </p:cNvSpPr>
          <p:nvPr userDrawn="1">
            <p:ph type="title"/>
          </p:nvPr>
        </p:nvSpPr>
        <p:spPr>
          <a:xfrm>
            <a:off x="609600" y="1184276"/>
            <a:ext cx="10972800" cy="114300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4000"/>
              </a:lnSpc>
              <a:defRPr sz="3733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ubtitle 2"/>
          <p:cNvSpPr>
            <a:spLocks noGrp="1"/>
          </p:cNvSpPr>
          <p:nvPr userDrawn="1">
            <p:ph type="subTitle" idx="1"/>
          </p:nvPr>
        </p:nvSpPr>
        <p:spPr>
          <a:xfrm>
            <a:off x="609600" y="2859349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 userDrawn="1">
            <p:ph type="body" sz="quarter" idx="10"/>
          </p:nvPr>
        </p:nvSpPr>
        <p:spPr>
          <a:xfrm>
            <a:off x="609600" y="3946019"/>
            <a:ext cx="8534400" cy="1295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67"/>
              </a:lnSpc>
              <a:buNone/>
              <a:defRPr sz="2400" baseline="0">
                <a:solidFill>
                  <a:srgbClr val="000000"/>
                </a:solidFill>
                <a:latin typeface="Calibri" pitchFamily="34" charset="0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617DD9D-7533-7A57-89FB-4D057BCEAC5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09600" y="372533"/>
            <a:ext cx="9211733" cy="54186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Place center name here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3EE938-470B-9DA7-FFED-E3CE4A1A3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6" t="47892" r="12803" b="15738"/>
          <a:stretch/>
        </p:blipFill>
        <p:spPr>
          <a:xfrm>
            <a:off x="10872041" y="216207"/>
            <a:ext cx="1117600" cy="7259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9C2412-9C72-F68A-C89E-1B2C31ECA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20133"/>
            <a:ext cx="12192000" cy="914400"/>
          </a:xfrm>
          <a:prstGeom prst="rect">
            <a:avLst/>
          </a:prstGeom>
          <a:solidFill>
            <a:srgbClr val="0057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CF4BB-8534-F92D-F388-F00364BC9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27" t="-6498" r="-2168" b="-6487"/>
          <a:stretch/>
        </p:blipFill>
        <p:spPr>
          <a:xfrm>
            <a:off x="10892590" y="5999749"/>
            <a:ext cx="1066799" cy="7218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A2EE6-3458-FDE5-088F-0524F161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7980" y="6355461"/>
            <a:ext cx="2743200" cy="366183"/>
          </a:xfrm>
        </p:spPr>
        <p:txBody>
          <a:bodyPr/>
          <a:lstStyle>
            <a:lvl1pPr algn="l">
              <a:defRPr sz="1333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8E7DCDC-E408-4B61-982D-00D1D5E6AE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794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_CDC_with_tagli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267F8213-0BF4-9CFD-184D-957DBD90B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92000" cy="1158861"/>
            <a:chOff x="0" y="1079970"/>
            <a:chExt cx="7112000" cy="22443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E8587A6-7C1A-EC72-C16A-98204569B3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1079970"/>
              <a:ext cx="7112000" cy="224308"/>
            </a:xfrm>
            <a:prstGeom prst="rect">
              <a:avLst/>
            </a:prstGeom>
            <a:solidFill>
              <a:srgbClr val="005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EB7A224-4867-EA38-EAA4-ECD97FF9203A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430" y="1080101"/>
              <a:ext cx="5345267" cy="224308"/>
              <a:chOff x="1771" y="389"/>
              <a:chExt cx="18815689" cy="664930"/>
            </a:xfrm>
          </p:grpSpPr>
          <p:sp>
            <p:nvSpPr>
              <p:cNvPr id="44" name="Parallelogram 9">
                <a:extLst>
                  <a:ext uri="{FF2B5EF4-FFF2-40B4-BE49-F238E27FC236}">
                    <a16:creationId xmlns:a16="http://schemas.microsoft.com/office/drawing/2014/main" id="{EA18C2A9-CD91-4656-D4FD-18B4B82E4B8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771" y="389"/>
                <a:ext cx="2010345" cy="664930"/>
              </a:xfrm>
              <a:custGeom>
                <a:avLst/>
                <a:gdLst>
                  <a:gd name="connsiteX0" fmla="*/ 0 w 2399861"/>
                  <a:gd name="connsiteY0" fmla="*/ 668592 h 668592"/>
                  <a:gd name="connsiteX1" fmla="*/ 167148 w 2399861"/>
                  <a:gd name="connsiteY1" fmla="*/ 0 h 668592"/>
                  <a:gd name="connsiteX2" fmla="*/ 2399861 w 2399861"/>
                  <a:gd name="connsiteY2" fmla="*/ 0 h 668592"/>
                  <a:gd name="connsiteX3" fmla="*/ 2232713 w 2399861"/>
                  <a:gd name="connsiteY3" fmla="*/ 668592 h 668592"/>
                  <a:gd name="connsiteX4" fmla="*/ 0 w 2399861"/>
                  <a:gd name="connsiteY4" fmla="*/ 668592 h 668592"/>
                  <a:gd name="connsiteX0" fmla="*/ 0 w 2261638"/>
                  <a:gd name="connsiteY0" fmla="*/ 668592 h 668592"/>
                  <a:gd name="connsiteX1" fmla="*/ 28925 w 2261638"/>
                  <a:gd name="connsiteY1" fmla="*/ 0 h 668592"/>
                  <a:gd name="connsiteX2" fmla="*/ 2261638 w 2261638"/>
                  <a:gd name="connsiteY2" fmla="*/ 0 h 668592"/>
                  <a:gd name="connsiteX3" fmla="*/ 2094490 w 2261638"/>
                  <a:gd name="connsiteY3" fmla="*/ 668592 h 668592"/>
                  <a:gd name="connsiteX4" fmla="*/ 0 w 2261638"/>
                  <a:gd name="connsiteY4" fmla="*/ 668592 h 66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1638" h="668592">
                    <a:moveTo>
                      <a:pt x="0" y="668592"/>
                    </a:moveTo>
                    <a:lnTo>
                      <a:pt x="28925" y="0"/>
                    </a:lnTo>
                    <a:lnTo>
                      <a:pt x="2261638" y="0"/>
                    </a:lnTo>
                    <a:lnTo>
                      <a:pt x="2094490" y="668592"/>
                    </a:lnTo>
                    <a:lnTo>
                      <a:pt x="0" y="668592"/>
                    </a:lnTo>
                    <a:close/>
                  </a:path>
                </a:pathLst>
              </a:custGeom>
              <a:solidFill>
                <a:srgbClr val="1643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AE0A8C09-00C3-D95E-B5DA-0F0A402DC7A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267572" y="389"/>
                <a:ext cx="3829094" cy="664930"/>
              </a:xfrm>
              <a:prstGeom prst="parallelogram">
                <a:avLst/>
              </a:prstGeom>
              <a:solidFill>
                <a:srgbClr val="194D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B944134F-25AD-BEB2-C0BF-43DF4B11FC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4209773" y="389"/>
                <a:ext cx="4996928" cy="664930"/>
              </a:xfrm>
              <a:prstGeom prst="parallelogram">
                <a:avLst/>
              </a:prstGeom>
              <a:solidFill>
                <a:srgbClr val="1C56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A01506F6-4045-30A7-1967-7A2272067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8136570" y="389"/>
                <a:ext cx="6026733" cy="664930"/>
              </a:xfrm>
              <a:prstGeom prst="parallelogram">
                <a:avLst/>
              </a:prstGeom>
              <a:solidFill>
                <a:srgbClr val="1E5D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48" name="Parallelogram 47">
                <a:extLst>
                  <a:ext uri="{FF2B5EF4-FFF2-40B4-BE49-F238E27FC236}">
                    <a16:creationId xmlns:a16="http://schemas.microsoft.com/office/drawing/2014/main" id="{E1EB0327-76CF-A70A-BE29-7C1C2819C1B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5172395" y="389"/>
                <a:ext cx="3645065" cy="664930"/>
              </a:xfrm>
              <a:prstGeom prst="parallelogram">
                <a:avLst/>
              </a:prstGeom>
              <a:solidFill>
                <a:srgbClr val="0057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</p:grpSp>
      </p:grpSp>
      <p:sp>
        <p:nvSpPr>
          <p:cNvPr id="7" name="Title 1"/>
          <p:cNvSpPr>
            <a:spLocks noGrp="1"/>
          </p:cNvSpPr>
          <p:nvPr userDrawn="1">
            <p:ph type="title"/>
          </p:nvPr>
        </p:nvSpPr>
        <p:spPr>
          <a:xfrm>
            <a:off x="609600" y="1184276"/>
            <a:ext cx="10972800" cy="114300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4000"/>
              </a:lnSpc>
              <a:defRPr sz="3733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ubtitle 2"/>
          <p:cNvSpPr>
            <a:spLocks noGrp="1"/>
          </p:cNvSpPr>
          <p:nvPr userDrawn="1">
            <p:ph type="subTitle" idx="1"/>
          </p:nvPr>
        </p:nvSpPr>
        <p:spPr>
          <a:xfrm>
            <a:off x="609600" y="2859349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 userDrawn="1">
            <p:ph type="body" sz="quarter" idx="10"/>
          </p:nvPr>
        </p:nvSpPr>
        <p:spPr>
          <a:xfrm>
            <a:off x="609600" y="3946019"/>
            <a:ext cx="8534400" cy="1295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67"/>
              </a:lnSpc>
              <a:buNone/>
              <a:defRPr sz="2400" baseline="0">
                <a:solidFill>
                  <a:srgbClr val="1D1D1D"/>
                </a:solidFill>
                <a:latin typeface="Calibri" pitchFamily="34" charset="0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617DD9D-7533-7A57-89FB-4D057BCEAC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72533"/>
            <a:ext cx="9211733" cy="54186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sz="2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Optional title for CIO name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8FF65-A5C6-CBFE-D22F-B5C8824E9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sz="1333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8E7DCDC-E408-4B61-982D-00D1D5E6AE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0500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_CDC_ATSD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4D200BC-739F-E118-66FF-78E246516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92000" cy="1158861"/>
            <a:chOff x="0" y="1079970"/>
            <a:chExt cx="7112000" cy="22443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5488B65-51B9-24CC-82CF-581585667F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1079970"/>
              <a:ext cx="7112000" cy="224308"/>
            </a:xfrm>
            <a:prstGeom prst="rect">
              <a:avLst/>
            </a:prstGeom>
            <a:solidFill>
              <a:srgbClr val="005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7EE0707-A628-935A-CECC-70626B3FA8FC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430" y="1080101"/>
              <a:ext cx="5345267" cy="224308"/>
              <a:chOff x="1771" y="389"/>
              <a:chExt cx="18815689" cy="664930"/>
            </a:xfrm>
          </p:grpSpPr>
          <p:sp>
            <p:nvSpPr>
              <p:cNvPr id="11" name="Parallelogram 9">
                <a:extLst>
                  <a:ext uri="{FF2B5EF4-FFF2-40B4-BE49-F238E27FC236}">
                    <a16:creationId xmlns:a16="http://schemas.microsoft.com/office/drawing/2014/main" id="{8C56AB45-808E-D371-67FF-0A735725B5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771" y="389"/>
                <a:ext cx="2010345" cy="664930"/>
              </a:xfrm>
              <a:custGeom>
                <a:avLst/>
                <a:gdLst>
                  <a:gd name="connsiteX0" fmla="*/ 0 w 2399861"/>
                  <a:gd name="connsiteY0" fmla="*/ 668592 h 668592"/>
                  <a:gd name="connsiteX1" fmla="*/ 167148 w 2399861"/>
                  <a:gd name="connsiteY1" fmla="*/ 0 h 668592"/>
                  <a:gd name="connsiteX2" fmla="*/ 2399861 w 2399861"/>
                  <a:gd name="connsiteY2" fmla="*/ 0 h 668592"/>
                  <a:gd name="connsiteX3" fmla="*/ 2232713 w 2399861"/>
                  <a:gd name="connsiteY3" fmla="*/ 668592 h 668592"/>
                  <a:gd name="connsiteX4" fmla="*/ 0 w 2399861"/>
                  <a:gd name="connsiteY4" fmla="*/ 668592 h 668592"/>
                  <a:gd name="connsiteX0" fmla="*/ 0 w 2261638"/>
                  <a:gd name="connsiteY0" fmla="*/ 668592 h 668592"/>
                  <a:gd name="connsiteX1" fmla="*/ 28925 w 2261638"/>
                  <a:gd name="connsiteY1" fmla="*/ 0 h 668592"/>
                  <a:gd name="connsiteX2" fmla="*/ 2261638 w 2261638"/>
                  <a:gd name="connsiteY2" fmla="*/ 0 h 668592"/>
                  <a:gd name="connsiteX3" fmla="*/ 2094490 w 2261638"/>
                  <a:gd name="connsiteY3" fmla="*/ 668592 h 668592"/>
                  <a:gd name="connsiteX4" fmla="*/ 0 w 2261638"/>
                  <a:gd name="connsiteY4" fmla="*/ 668592 h 66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1638" h="668592">
                    <a:moveTo>
                      <a:pt x="0" y="668592"/>
                    </a:moveTo>
                    <a:lnTo>
                      <a:pt x="28925" y="0"/>
                    </a:lnTo>
                    <a:lnTo>
                      <a:pt x="2261638" y="0"/>
                    </a:lnTo>
                    <a:lnTo>
                      <a:pt x="2094490" y="668592"/>
                    </a:lnTo>
                    <a:lnTo>
                      <a:pt x="0" y="668592"/>
                    </a:lnTo>
                    <a:close/>
                  </a:path>
                </a:pathLst>
              </a:custGeom>
              <a:solidFill>
                <a:srgbClr val="1643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12" name="Parallelogram 11">
                <a:extLst>
                  <a:ext uri="{FF2B5EF4-FFF2-40B4-BE49-F238E27FC236}">
                    <a16:creationId xmlns:a16="http://schemas.microsoft.com/office/drawing/2014/main" id="{91CB8924-C83A-F743-E7B7-6A26681D72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267572" y="389"/>
                <a:ext cx="3829094" cy="664930"/>
              </a:xfrm>
              <a:prstGeom prst="parallelogram">
                <a:avLst/>
              </a:prstGeom>
              <a:solidFill>
                <a:srgbClr val="194D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352A5B8C-A481-8BA7-8E13-68A6747B9B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4209773" y="389"/>
                <a:ext cx="4996928" cy="664930"/>
              </a:xfrm>
              <a:prstGeom prst="parallelogram">
                <a:avLst/>
              </a:prstGeom>
              <a:solidFill>
                <a:srgbClr val="1C56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14" name="Parallelogram 13">
                <a:extLst>
                  <a:ext uri="{FF2B5EF4-FFF2-40B4-BE49-F238E27FC236}">
                    <a16:creationId xmlns:a16="http://schemas.microsoft.com/office/drawing/2014/main" id="{DAB573E3-591C-13FE-7262-EA1F1564CB3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8136570" y="389"/>
                <a:ext cx="6026733" cy="664930"/>
              </a:xfrm>
              <a:prstGeom prst="parallelogram">
                <a:avLst/>
              </a:prstGeom>
              <a:solidFill>
                <a:srgbClr val="1E5D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15" name="Parallelogram 14">
                <a:extLst>
                  <a:ext uri="{FF2B5EF4-FFF2-40B4-BE49-F238E27FC236}">
                    <a16:creationId xmlns:a16="http://schemas.microsoft.com/office/drawing/2014/main" id="{C0A06E43-B1E2-116B-6C8D-8AE5C97FA5C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5172395" y="389"/>
                <a:ext cx="3645065" cy="664930"/>
              </a:xfrm>
              <a:prstGeom prst="parallelogram">
                <a:avLst/>
              </a:prstGeom>
              <a:solidFill>
                <a:srgbClr val="0057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</p:grpSp>
      </p:grpSp>
      <p:sp>
        <p:nvSpPr>
          <p:cNvPr id="7" name="Title 1"/>
          <p:cNvSpPr>
            <a:spLocks noGrp="1"/>
          </p:cNvSpPr>
          <p:nvPr userDrawn="1">
            <p:ph type="title"/>
          </p:nvPr>
        </p:nvSpPr>
        <p:spPr>
          <a:xfrm>
            <a:off x="609600" y="1184275"/>
            <a:ext cx="10972800" cy="114604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4000"/>
              </a:lnSpc>
              <a:defRPr sz="3733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ubtitle 2"/>
          <p:cNvSpPr>
            <a:spLocks noGrp="1"/>
          </p:cNvSpPr>
          <p:nvPr userDrawn="1">
            <p:ph type="subTitle" idx="1"/>
          </p:nvPr>
        </p:nvSpPr>
        <p:spPr>
          <a:xfrm>
            <a:off x="609600" y="2859349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 userDrawn="1">
            <p:ph type="body" sz="quarter" idx="10"/>
          </p:nvPr>
        </p:nvSpPr>
        <p:spPr>
          <a:xfrm>
            <a:off x="609600" y="3946019"/>
            <a:ext cx="8534400" cy="1295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67"/>
              </a:lnSpc>
              <a:buNone/>
              <a:defRPr sz="2400" baseline="0">
                <a:solidFill>
                  <a:srgbClr val="1D1D1D"/>
                </a:solidFill>
                <a:latin typeface="Calibri" pitchFamily="34" charset="0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8E5FCF9-D4BB-C238-A1FB-70D35E4A4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8E7DCDC-E408-4B61-982D-00D1D5E6AE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97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1">
    <p:bg>
      <p:bgPr>
        <a:solidFill>
          <a:srgbClr val="0057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467097"/>
            <a:ext cx="10972800" cy="114300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5333"/>
              </a:lnSpc>
              <a:defRPr sz="4800" b="1" baseline="0">
                <a:solidFill>
                  <a:schemeClr val="bg2"/>
                </a:solidFill>
                <a:effectLst/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609601" y="5610098"/>
            <a:ext cx="10363200" cy="5683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ts val="2667"/>
              </a:lnSpc>
              <a:buNone/>
              <a:defRPr sz="2667" baseline="0">
                <a:solidFill>
                  <a:schemeClr val="bg2"/>
                </a:solidFill>
                <a:latin typeface="Calibri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AB115-5E7C-25FD-D47F-33D7F9B6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65408" y="6356350"/>
            <a:ext cx="753275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8E7DCDC-E408-4B61-982D-00D1D5E6AE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6967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E7F2F02-184C-4505-8466-02885693F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4000"/>
              </a:lnSpc>
              <a:defRPr sz="3733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09600" y="1835572"/>
            <a:ext cx="10972800" cy="4176467"/>
          </a:xfrm>
        </p:spPr>
        <p:txBody>
          <a:bodyPr/>
          <a:lstStyle>
            <a:lvl1pPr marL="304792" indent="-304792">
              <a:lnSpc>
                <a:spcPts val="2933"/>
              </a:lnSpc>
              <a:buClr>
                <a:srgbClr val="003BC0"/>
              </a:buClr>
              <a:buFont typeface="Arial" panose="020B0604020202020204" pitchFamily="34" charset="0"/>
              <a:buChar char="•"/>
              <a:defRPr sz="2667" b="1">
                <a:solidFill>
                  <a:srgbClr val="1D1D1D"/>
                </a:solidFill>
              </a:defRPr>
            </a:lvl1pPr>
            <a:lvl2pPr marL="609585" indent="-226478">
              <a:lnSpc>
                <a:spcPts val="2667"/>
              </a:lnSpc>
              <a:buClr>
                <a:srgbClr val="005761"/>
              </a:buClr>
              <a:buFont typeface="Arial" panose="020B0604020202020204" pitchFamily="34" charset="0"/>
              <a:buChar char="-"/>
              <a:tabLst>
                <a:tab pos="533387" algn="l"/>
              </a:tabLst>
              <a:defRPr sz="2400">
                <a:solidFill>
                  <a:srgbClr val="1D1D1D"/>
                </a:solidFill>
              </a:defRPr>
            </a:lvl2pPr>
            <a:lvl3pPr>
              <a:lnSpc>
                <a:spcPts val="2667"/>
              </a:lnSpc>
              <a:buClr>
                <a:srgbClr val="5A5A5A"/>
              </a:buClr>
              <a:defRPr sz="2667">
                <a:solidFill>
                  <a:srgbClr val="1D1D1D"/>
                </a:solidFill>
              </a:defRPr>
            </a:lvl3pPr>
            <a:lvl4pPr>
              <a:defRPr sz="2667">
                <a:solidFill>
                  <a:srgbClr val="1D1D1D"/>
                </a:solidFill>
              </a:defRPr>
            </a:lvl4pPr>
            <a:lvl5pPr>
              <a:defRPr sz="26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710D62-FA23-37E1-D9CA-4E6562C12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" y="6725265"/>
            <a:ext cx="12192001" cy="142567"/>
            <a:chOff x="7355954" y="15880786"/>
            <a:chExt cx="21904846" cy="578414"/>
          </a:xfrm>
        </p:grpSpPr>
        <p:sp>
          <p:nvSpPr>
            <p:cNvPr id="3" name="Rectangle 20">
              <a:extLst>
                <a:ext uri="{FF2B5EF4-FFF2-40B4-BE49-F238E27FC236}">
                  <a16:creationId xmlns:a16="http://schemas.microsoft.com/office/drawing/2014/main" id="{3AD231D8-DCA4-570B-4CC6-32EBF38FAD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21984029" y="15880786"/>
              <a:ext cx="2432923" cy="578414"/>
            </a:xfrm>
            <a:prstGeom prst="rect">
              <a:avLst/>
            </a:prstGeom>
            <a:solidFill>
              <a:srgbClr val="194D9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  <p:sp>
          <p:nvSpPr>
            <p:cNvPr id="4" name="Rectangle 20">
              <a:extLst>
                <a:ext uri="{FF2B5EF4-FFF2-40B4-BE49-F238E27FC236}">
                  <a16:creationId xmlns:a16="http://schemas.microsoft.com/office/drawing/2014/main" id="{32619D13-D1C6-7836-5897-39ABF07B01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24406350" y="15880786"/>
              <a:ext cx="2432923" cy="578414"/>
            </a:xfrm>
            <a:prstGeom prst="rect">
              <a:avLst/>
            </a:prstGeom>
            <a:solidFill>
              <a:srgbClr val="1C56A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  <p:sp>
          <p:nvSpPr>
            <p:cNvPr id="6" name="Rectangle 20">
              <a:extLst>
                <a:ext uri="{FF2B5EF4-FFF2-40B4-BE49-F238E27FC236}">
                  <a16:creationId xmlns:a16="http://schemas.microsoft.com/office/drawing/2014/main" id="{392F6D8E-420B-97AC-FD5D-3185F97EC0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26827877" y="15880786"/>
              <a:ext cx="2432923" cy="578414"/>
            </a:xfrm>
            <a:prstGeom prst="rect">
              <a:avLst/>
            </a:prstGeom>
            <a:solidFill>
              <a:srgbClr val="1E5DB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  <p:sp>
          <p:nvSpPr>
            <p:cNvPr id="8" name="Rectangle 20">
              <a:extLst>
                <a:ext uri="{FF2B5EF4-FFF2-40B4-BE49-F238E27FC236}">
                  <a16:creationId xmlns:a16="http://schemas.microsoft.com/office/drawing/2014/main" id="{6967D159-E4ED-FA77-F3CA-47CC8A1001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7355954" y="15880786"/>
              <a:ext cx="14644447" cy="578414"/>
            </a:xfrm>
            <a:prstGeom prst="rect">
              <a:avLst/>
            </a:prstGeom>
            <a:solidFill>
              <a:srgbClr val="164380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</p:grp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BEE049-4EDC-72E7-33F0-97CB98B025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6416841"/>
            <a:ext cx="10490976" cy="292212"/>
          </a:xfrm>
        </p:spPr>
        <p:txBody>
          <a:bodyPr/>
          <a:lstStyle>
            <a:lvl1pPr marL="0" indent="0">
              <a:buNone/>
              <a:defRPr sz="1067"/>
            </a:lvl1pPr>
          </a:lstStyle>
          <a:p>
            <a:pPr lvl="0"/>
            <a:endParaRPr lang="en-US" dirty="0"/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EE5CAFF7-7E21-9C78-9070-5FCF133DC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21439" y="6400799"/>
            <a:ext cx="536448" cy="365760"/>
          </a:xfrm>
          <a:prstGeom prst="rect">
            <a:avLst/>
          </a:prstGeom>
        </p:spPr>
        <p:txBody>
          <a:bodyPr/>
          <a:lstStyle>
            <a:lvl1pPr algn="r">
              <a:defRPr sz="1333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E1A0740-F252-4427-A288-A0F9AF0CD4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09513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2-s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4000"/>
              </a:lnSpc>
              <a:defRPr sz="3733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BFD30-ED28-4470-96F2-C90951794F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1811867"/>
            <a:ext cx="5185833" cy="4421717"/>
          </a:xfrm>
        </p:spPr>
        <p:txBody>
          <a:bodyPr/>
          <a:lstStyle>
            <a:lvl1pPr marL="304792" indent="-304792">
              <a:buClr>
                <a:srgbClr val="003BC0"/>
              </a:buClr>
              <a:buFont typeface="Arial" panose="020B0604020202020204" pitchFamily="34" charset="0"/>
              <a:buChar char="•"/>
              <a:defRPr sz="2667" b="1">
                <a:solidFill>
                  <a:srgbClr val="1D1D1D"/>
                </a:solidFill>
              </a:defRPr>
            </a:lvl1pPr>
            <a:lvl2pPr marL="609585" indent="-228594">
              <a:buClr>
                <a:srgbClr val="005761"/>
              </a:buClr>
              <a:buFont typeface="Arial" panose="020B0604020202020204" pitchFamily="34" charset="0"/>
              <a:buChar char="-"/>
              <a:defRPr sz="2400">
                <a:solidFill>
                  <a:srgbClr val="1D1D1D"/>
                </a:solidFill>
              </a:defRPr>
            </a:lvl2pPr>
            <a:lvl3pPr>
              <a:defRPr sz="2133">
                <a:solidFill>
                  <a:srgbClr val="1D1D1D"/>
                </a:solidFill>
              </a:defRPr>
            </a:lvl3pPr>
            <a:lvl4pPr>
              <a:defRPr sz="1867">
                <a:solidFill>
                  <a:srgbClr val="1D1D1D"/>
                </a:solidFill>
              </a:defRPr>
            </a:lvl4pPr>
            <a:lvl5pPr>
              <a:defRPr sz="18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308A1BA-F127-444C-8EEB-78BB410C70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96568" y="1811867"/>
            <a:ext cx="5185833" cy="4421717"/>
          </a:xfrm>
        </p:spPr>
        <p:txBody>
          <a:bodyPr/>
          <a:lstStyle>
            <a:lvl1pPr marL="304792" indent="-304792">
              <a:buClr>
                <a:srgbClr val="0033A1"/>
              </a:buClr>
              <a:buFont typeface="Arial" panose="020B0604020202020204" pitchFamily="34" charset="0"/>
              <a:buChar char="•"/>
              <a:defRPr sz="2667" b="1">
                <a:solidFill>
                  <a:srgbClr val="1D1D1D"/>
                </a:solidFill>
              </a:defRPr>
            </a:lvl1pPr>
            <a:lvl2pPr marL="609585" indent="-228594">
              <a:buClr>
                <a:srgbClr val="005761"/>
              </a:buClr>
              <a:buFont typeface="Arial" panose="020B0604020202020204" pitchFamily="34" charset="0"/>
              <a:buChar char="-"/>
              <a:tabLst>
                <a:tab pos="380990" algn="l"/>
              </a:tabLst>
              <a:defRPr sz="2400">
                <a:solidFill>
                  <a:srgbClr val="1D1D1D"/>
                </a:solidFill>
              </a:defRPr>
            </a:lvl2pPr>
            <a:lvl3pPr>
              <a:defRPr sz="2133">
                <a:solidFill>
                  <a:srgbClr val="1D1D1D"/>
                </a:solidFill>
              </a:defRPr>
            </a:lvl3pPr>
            <a:lvl4pPr>
              <a:defRPr sz="1867">
                <a:solidFill>
                  <a:srgbClr val="1D1D1D"/>
                </a:solidFill>
              </a:defRPr>
            </a:lvl4pPr>
            <a:lvl5pPr>
              <a:defRPr sz="18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3F77754-22A0-2E82-7821-2D551EA53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" y="6725265"/>
            <a:ext cx="12192001" cy="142567"/>
            <a:chOff x="7355954" y="15880786"/>
            <a:chExt cx="21904846" cy="578414"/>
          </a:xfrm>
        </p:grpSpPr>
        <p:sp>
          <p:nvSpPr>
            <p:cNvPr id="12" name="Rectangle 20">
              <a:extLst>
                <a:ext uri="{FF2B5EF4-FFF2-40B4-BE49-F238E27FC236}">
                  <a16:creationId xmlns:a16="http://schemas.microsoft.com/office/drawing/2014/main" id="{FA84B6E9-CB28-F3EC-FE9B-CD95E83CFF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21984029" y="15880786"/>
              <a:ext cx="2432923" cy="578414"/>
            </a:xfrm>
            <a:prstGeom prst="rect">
              <a:avLst/>
            </a:prstGeom>
            <a:solidFill>
              <a:srgbClr val="194D9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E3E7FB67-DA74-9748-2B12-CFD70C373C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24406350" y="15880786"/>
              <a:ext cx="2432923" cy="578414"/>
            </a:xfrm>
            <a:prstGeom prst="rect">
              <a:avLst/>
            </a:prstGeom>
            <a:solidFill>
              <a:srgbClr val="1C56A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  <p:sp>
          <p:nvSpPr>
            <p:cNvPr id="14" name="Rectangle 20">
              <a:extLst>
                <a:ext uri="{FF2B5EF4-FFF2-40B4-BE49-F238E27FC236}">
                  <a16:creationId xmlns:a16="http://schemas.microsoft.com/office/drawing/2014/main" id="{CB6F0725-60D8-6C7C-D80E-17BCC9E630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26827877" y="15880786"/>
              <a:ext cx="2432923" cy="578414"/>
            </a:xfrm>
            <a:prstGeom prst="rect">
              <a:avLst/>
            </a:prstGeom>
            <a:solidFill>
              <a:srgbClr val="1E5DB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  <p:sp>
          <p:nvSpPr>
            <p:cNvPr id="15" name="Rectangle 20">
              <a:extLst>
                <a:ext uri="{FF2B5EF4-FFF2-40B4-BE49-F238E27FC236}">
                  <a16:creationId xmlns:a16="http://schemas.microsoft.com/office/drawing/2014/main" id="{6D41011B-EA59-1C4E-7A59-087B094B7D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7355954" y="15880786"/>
              <a:ext cx="14644447" cy="578414"/>
            </a:xfrm>
            <a:prstGeom prst="rect">
              <a:avLst/>
            </a:prstGeom>
            <a:solidFill>
              <a:srgbClr val="164380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</p:grp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F4A2EA4-CB15-F760-81BC-C412F587A4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6416841"/>
            <a:ext cx="10779488" cy="292212"/>
          </a:xfrm>
        </p:spPr>
        <p:txBody>
          <a:bodyPr/>
          <a:lstStyle>
            <a:lvl1pPr marL="0" indent="0">
              <a:buNone/>
              <a:defRPr sz="1067"/>
            </a:lvl1pPr>
          </a:lstStyle>
          <a:p>
            <a:pPr lvl="0"/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BB1B9751-7180-4936-9F8D-56531DFB4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21440" y="6400800"/>
            <a:ext cx="536448" cy="365760"/>
          </a:xfrm>
          <a:prstGeom prst="rect">
            <a:avLst/>
          </a:prstGeom>
        </p:spPr>
        <p:txBody>
          <a:bodyPr/>
          <a:lstStyle>
            <a:lvl1pPr algn="r">
              <a:defRPr sz="1333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E1A0740-F252-4427-A288-A0F9AF0CD4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87969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/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4000"/>
              </a:lnSpc>
              <a:defRPr sz="3733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BFD30-ED28-4470-96F2-C90951794F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1811867"/>
            <a:ext cx="5185833" cy="4421717"/>
          </a:xfrm>
        </p:spPr>
        <p:txBody>
          <a:bodyPr/>
          <a:lstStyle>
            <a:lvl1pPr marL="304792" indent="-304792">
              <a:buClr>
                <a:srgbClr val="213F98"/>
              </a:buClr>
              <a:buFont typeface="Arial" panose="020B0604020202020204" pitchFamily="34" charset="0"/>
              <a:buChar char="•"/>
              <a:defRPr sz="2667" b="1">
                <a:solidFill>
                  <a:srgbClr val="1D1D1D"/>
                </a:solidFill>
              </a:defRPr>
            </a:lvl1pPr>
            <a:lvl2pPr marL="609585" indent="-226478">
              <a:buClr>
                <a:srgbClr val="004D71"/>
              </a:buClr>
              <a:buFont typeface="Calibri" panose="020F0502020204030204" pitchFamily="34" charset="0"/>
              <a:buChar char="-"/>
              <a:defRPr sz="2400">
                <a:solidFill>
                  <a:srgbClr val="1D1D1D"/>
                </a:solidFill>
              </a:defRPr>
            </a:lvl2pPr>
            <a:lvl3pPr>
              <a:defRPr sz="2133">
                <a:solidFill>
                  <a:srgbClr val="1D1D1D"/>
                </a:solidFill>
              </a:defRPr>
            </a:lvl3pPr>
            <a:lvl4pPr>
              <a:defRPr sz="1867">
                <a:solidFill>
                  <a:srgbClr val="1D1D1D"/>
                </a:solidFill>
              </a:defRPr>
            </a:lvl4pPr>
            <a:lvl5pPr>
              <a:defRPr sz="18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C7C7B02A-16A0-4F02-8665-3ADC835153D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1811867"/>
            <a:ext cx="5486400" cy="4421717"/>
          </a:xfrm>
        </p:spPr>
        <p:txBody>
          <a:bodyPr/>
          <a:lstStyle>
            <a:lvl1pPr>
              <a:spcAft>
                <a:spcPts val="1600"/>
              </a:spcAft>
              <a:buNone/>
              <a:defRPr sz="2667" b="0">
                <a:solidFill>
                  <a:srgbClr val="000000"/>
                </a:solidFill>
              </a:defRPr>
            </a:lvl1pPr>
            <a:lvl2pPr marL="387341" indent="-387341">
              <a:spcBef>
                <a:spcPts val="800"/>
              </a:spcBef>
              <a:spcAft>
                <a:spcPts val="800"/>
              </a:spcAft>
              <a:buClr>
                <a:srgbClr val="9B4E9E"/>
              </a:buClr>
              <a:buFont typeface="Wingdings" panose="05000000000000000000" pitchFamily="2" charset="2"/>
              <a:buChar char="§"/>
              <a:defRPr sz="3733"/>
            </a:lvl2pPr>
            <a:lvl3pPr marL="831830" indent="-444489">
              <a:spcBef>
                <a:spcPts val="800"/>
              </a:spcBef>
              <a:spcAft>
                <a:spcPts val="800"/>
              </a:spcAft>
              <a:buClr>
                <a:srgbClr val="692145"/>
              </a:buClr>
              <a:defRPr sz="3200"/>
            </a:lvl3pPr>
            <a:lvl4pPr marL="1219170" indent="-309026">
              <a:spcBef>
                <a:spcPts val="800"/>
              </a:spcBef>
              <a:spcAft>
                <a:spcPts val="800"/>
              </a:spcAft>
              <a:defRPr/>
            </a:lvl4pPr>
          </a:lstStyle>
          <a:p>
            <a:pPr lvl="0"/>
            <a:r>
              <a:rPr lang="en-US" dirty="0"/>
              <a:t>Object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8EA5292-B508-5CCC-3B11-5F514326A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" y="6725265"/>
            <a:ext cx="12192001" cy="142567"/>
            <a:chOff x="7355954" y="15880786"/>
            <a:chExt cx="21904846" cy="578414"/>
          </a:xfrm>
        </p:grpSpPr>
        <p:sp>
          <p:nvSpPr>
            <p:cNvPr id="8" name="Rectangle 20">
              <a:extLst>
                <a:ext uri="{FF2B5EF4-FFF2-40B4-BE49-F238E27FC236}">
                  <a16:creationId xmlns:a16="http://schemas.microsoft.com/office/drawing/2014/main" id="{539AAD55-CAFC-28FA-1603-012C70964E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21984029" y="15880786"/>
              <a:ext cx="2432923" cy="578414"/>
            </a:xfrm>
            <a:prstGeom prst="rect">
              <a:avLst/>
            </a:prstGeom>
            <a:solidFill>
              <a:srgbClr val="194D9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  <p:sp>
          <p:nvSpPr>
            <p:cNvPr id="9" name="Rectangle 20">
              <a:extLst>
                <a:ext uri="{FF2B5EF4-FFF2-40B4-BE49-F238E27FC236}">
                  <a16:creationId xmlns:a16="http://schemas.microsoft.com/office/drawing/2014/main" id="{ECA99706-428A-5A9B-342D-4D840B1E03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24406350" y="15880786"/>
              <a:ext cx="2432923" cy="578414"/>
            </a:xfrm>
            <a:prstGeom prst="rect">
              <a:avLst/>
            </a:prstGeom>
            <a:solidFill>
              <a:srgbClr val="1C56A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  <p:sp>
          <p:nvSpPr>
            <p:cNvPr id="10" name="Rectangle 20">
              <a:extLst>
                <a:ext uri="{FF2B5EF4-FFF2-40B4-BE49-F238E27FC236}">
                  <a16:creationId xmlns:a16="http://schemas.microsoft.com/office/drawing/2014/main" id="{79DDDD67-FECD-CBEB-564B-EDFA0D549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26827877" y="15880786"/>
              <a:ext cx="2432923" cy="578414"/>
            </a:xfrm>
            <a:prstGeom prst="rect">
              <a:avLst/>
            </a:prstGeom>
            <a:solidFill>
              <a:srgbClr val="1E5DB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  <p:sp>
          <p:nvSpPr>
            <p:cNvPr id="11" name="Rectangle 20">
              <a:extLst>
                <a:ext uri="{FF2B5EF4-FFF2-40B4-BE49-F238E27FC236}">
                  <a16:creationId xmlns:a16="http://schemas.microsoft.com/office/drawing/2014/main" id="{EFFB22AD-82B6-AB04-B682-8FFC29BE68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flipV="1">
              <a:off x="7355954" y="15880786"/>
              <a:ext cx="14644447" cy="578414"/>
            </a:xfrm>
            <a:prstGeom prst="rect">
              <a:avLst/>
            </a:prstGeom>
            <a:solidFill>
              <a:srgbClr val="164380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 dirty="0"/>
            </a:p>
          </p:txBody>
        </p:sp>
      </p:grp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8B6A25E2-0357-55C7-F467-84B5DF7310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1" y="6416841"/>
            <a:ext cx="10844636" cy="292212"/>
          </a:xfrm>
        </p:spPr>
        <p:txBody>
          <a:bodyPr/>
          <a:lstStyle>
            <a:lvl1pPr marL="0" indent="0">
              <a:buNone/>
              <a:defRPr sz="1067"/>
            </a:lvl1pPr>
          </a:lstStyle>
          <a:p>
            <a:pPr lvl="0"/>
            <a:endParaRPr lang="en-US" dirty="0"/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B8840985-3EE8-3327-B62A-FFD680F2F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21440" y="6400800"/>
            <a:ext cx="536448" cy="365760"/>
          </a:xfrm>
          <a:prstGeom prst="rect">
            <a:avLst/>
          </a:prstGeom>
        </p:spPr>
        <p:txBody>
          <a:bodyPr/>
          <a:lstStyle>
            <a:lvl1pPr algn="r">
              <a:defRPr sz="1333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E1A0740-F252-4427-A288-A0F9AF0CD4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1662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D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3A17BC3-1F5B-28A0-7789-0DA0C7A50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5699139"/>
            <a:ext cx="12192000" cy="1158861"/>
            <a:chOff x="0" y="4274354"/>
            <a:chExt cx="9144000" cy="86914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31CF5A-461C-2AF2-2E63-53A651F732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4274354"/>
              <a:ext cx="9144000" cy="869146"/>
            </a:xfrm>
            <a:prstGeom prst="rect">
              <a:avLst/>
            </a:prstGeom>
            <a:solidFill>
              <a:srgbClr val="005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8A96CBD-9BC4-3F48-F0A5-DB94DE1071B8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553" y="4274861"/>
              <a:ext cx="5172541" cy="868639"/>
              <a:chOff x="1771" y="389"/>
              <a:chExt cx="14161532" cy="664930"/>
            </a:xfrm>
          </p:grpSpPr>
          <p:sp>
            <p:nvSpPr>
              <p:cNvPr id="18" name="Parallelogram 9">
                <a:extLst>
                  <a:ext uri="{FF2B5EF4-FFF2-40B4-BE49-F238E27FC236}">
                    <a16:creationId xmlns:a16="http://schemas.microsoft.com/office/drawing/2014/main" id="{1DF45998-B7ED-3B13-D19D-C839BC9316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771" y="389"/>
                <a:ext cx="2010345" cy="664930"/>
              </a:xfrm>
              <a:custGeom>
                <a:avLst/>
                <a:gdLst>
                  <a:gd name="connsiteX0" fmla="*/ 0 w 2399861"/>
                  <a:gd name="connsiteY0" fmla="*/ 668592 h 668592"/>
                  <a:gd name="connsiteX1" fmla="*/ 167148 w 2399861"/>
                  <a:gd name="connsiteY1" fmla="*/ 0 h 668592"/>
                  <a:gd name="connsiteX2" fmla="*/ 2399861 w 2399861"/>
                  <a:gd name="connsiteY2" fmla="*/ 0 h 668592"/>
                  <a:gd name="connsiteX3" fmla="*/ 2232713 w 2399861"/>
                  <a:gd name="connsiteY3" fmla="*/ 668592 h 668592"/>
                  <a:gd name="connsiteX4" fmla="*/ 0 w 2399861"/>
                  <a:gd name="connsiteY4" fmla="*/ 668592 h 668592"/>
                  <a:gd name="connsiteX0" fmla="*/ 0 w 2261638"/>
                  <a:gd name="connsiteY0" fmla="*/ 668592 h 668592"/>
                  <a:gd name="connsiteX1" fmla="*/ 28925 w 2261638"/>
                  <a:gd name="connsiteY1" fmla="*/ 0 h 668592"/>
                  <a:gd name="connsiteX2" fmla="*/ 2261638 w 2261638"/>
                  <a:gd name="connsiteY2" fmla="*/ 0 h 668592"/>
                  <a:gd name="connsiteX3" fmla="*/ 2094490 w 2261638"/>
                  <a:gd name="connsiteY3" fmla="*/ 668592 h 668592"/>
                  <a:gd name="connsiteX4" fmla="*/ 0 w 2261638"/>
                  <a:gd name="connsiteY4" fmla="*/ 668592 h 66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1638" h="668592">
                    <a:moveTo>
                      <a:pt x="0" y="668592"/>
                    </a:moveTo>
                    <a:lnTo>
                      <a:pt x="28925" y="0"/>
                    </a:lnTo>
                    <a:lnTo>
                      <a:pt x="2261638" y="0"/>
                    </a:lnTo>
                    <a:lnTo>
                      <a:pt x="2094490" y="668592"/>
                    </a:lnTo>
                    <a:lnTo>
                      <a:pt x="0" y="668592"/>
                    </a:lnTo>
                    <a:close/>
                  </a:path>
                </a:pathLst>
              </a:custGeom>
              <a:solidFill>
                <a:srgbClr val="1643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2C94CA9D-1D40-AB06-E28C-01B79FC23B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267572" y="389"/>
                <a:ext cx="3829094" cy="664930"/>
              </a:xfrm>
              <a:prstGeom prst="parallelogram">
                <a:avLst/>
              </a:prstGeom>
              <a:solidFill>
                <a:srgbClr val="194D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2E700AAC-8ED5-0BD9-0D59-78D98E213E6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4209773" y="389"/>
                <a:ext cx="4996928" cy="664930"/>
              </a:xfrm>
              <a:prstGeom prst="parallelogram">
                <a:avLst/>
              </a:prstGeom>
              <a:solidFill>
                <a:srgbClr val="1C56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21" name="Parallelogram 20">
                <a:extLst>
                  <a:ext uri="{FF2B5EF4-FFF2-40B4-BE49-F238E27FC236}">
                    <a16:creationId xmlns:a16="http://schemas.microsoft.com/office/drawing/2014/main" id="{524E04CF-F3D6-66B2-FB7C-10C171C174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8136570" y="389"/>
                <a:ext cx="6026733" cy="664930"/>
              </a:xfrm>
              <a:prstGeom prst="parallelogram">
                <a:avLst/>
              </a:prstGeom>
              <a:solidFill>
                <a:srgbClr val="1E5D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0911660-0328-8FB7-F5E8-8FE9408CE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38" t="-4371" r="-5290" b="-9440"/>
          <a:stretch/>
        </p:blipFill>
        <p:spPr>
          <a:xfrm>
            <a:off x="10876548" y="5927557"/>
            <a:ext cx="1114923" cy="71773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1AAE42-4A62-8308-16A3-AF933411C0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280416"/>
            <a:ext cx="10972800" cy="114300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4000"/>
              </a:lnSpc>
              <a:defRPr sz="3733" b="1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74EFB-518F-C978-3CDA-5C27004A6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21440" y="5364481"/>
            <a:ext cx="536448" cy="366183"/>
          </a:xfrm>
        </p:spPr>
        <p:txBody>
          <a:bodyPr/>
          <a:lstStyle>
            <a:lvl1pPr>
              <a:defRPr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8E7DCDC-E408-4B61-982D-00D1D5E6AE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31962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DC ATSD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DE51C5C-061E-82A7-65CD-CB91ADC1E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0" y="5699139"/>
            <a:ext cx="12192000" cy="1158861"/>
            <a:chOff x="0" y="4274354"/>
            <a:chExt cx="9144000" cy="86914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32C90D-E6F5-DB53-F053-9B3394B1067E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4274354"/>
              <a:ext cx="9144000" cy="869146"/>
            </a:xfrm>
            <a:prstGeom prst="rect">
              <a:avLst/>
            </a:prstGeom>
            <a:solidFill>
              <a:srgbClr val="005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C15464F-2DC0-02E4-5EBE-4271CBFCFE29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53" y="4274861"/>
              <a:ext cx="5172541" cy="868639"/>
              <a:chOff x="1771" y="389"/>
              <a:chExt cx="14161532" cy="664930"/>
            </a:xfrm>
          </p:grpSpPr>
          <p:sp>
            <p:nvSpPr>
              <p:cNvPr id="7" name="Parallelogram 9">
                <a:extLst>
                  <a:ext uri="{FF2B5EF4-FFF2-40B4-BE49-F238E27FC236}">
                    <a16:creationId xmlns:a16="http://schemas.microsoft.com/office/drawing/2014/main" id="{4B1DA4E7-9DDE-5DDD-9BAC-121DCC207924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771" y="389"/>
                <a:ext cx="2010345" cy="664930"/>
              </a:xfrm>
              <a:custGeom>
                <a:avLst/>
                <a:gdLst>
                  <a:gd name="connsiteX0" fmla="*/ 0 w 2399861"/>
                  <a:gd name="connsiteY0" fmla="*/ 668592 h 668592"/>
                  <a:gd name="connsiteX1" fmla="*/ 167148 w 2399861"/>
                  <a:gd name="connsiteY1" fmla="*/ 0 h 668592"/>
                  <a:gd name="connsiteX2" fmla="*/ 2399861 w 2399861"/>
                  <a:gd name="connsiteY2" fmla="*/ 0 h 668592"/>
                  <a:gd name="connsiteX3" fmla="*/ 2232713 w 2399861"/>
                  <a:gd name="connsiteY3" fmla="*/ 668592 h 668592"/>
                  <a:gd name="connsiteX4" fmla="*/ 0 w 2399861"/>
                  <a:gd name="connsiteY4" fmla="*/ 668592 h 668592"/>
                  <a:gd name="connsiteX0" fmla="*/ 0 w 2261638"/>
                  <a:gd name="connsiteY0" fmla="*/ 668592 h 668592"/>
                  <a:gd name="connsiteX1" fmla="*/ 28925 w 2261638"/>
                  <a:gd name="connsiteY1" fmla="*/ 0 h 668592"/>
                  <a:gd name="connsiteX2" fmla="*/ 2261638 w 2261638"/>
                  <a:gd name="connsiteY2" fmla="*/ 0 h 668592"/>
                  <a:gd name="connsiteX3" fmla="*/ 2094490 w 2261638"/>
                  <a:gd name="connsiteY3" fmla="*/ 668592 h 668592"/>
                  <a:gd name="connsiteX4" fmla="*/ 0 w 2261638"/>
                  <a:gd name="connsiteY4" fmla="*/ 668592 h 66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1638" h="668592">
                    <a:moveTo>
                      <a:pt x="0" y="668592"/>
                    </a:moveTo>
                    <a:lnTo>
                      <a:pt x="28925" y="0"/>
                    </a:lnTo>
                    <a:lnTo>
                      <a:pt x="2261638" y="0"/>
                    </a:lnTo>
                    <a:lnTo>
                      <a:pt x="2094490" y="668592"/>
                    </a:lnTo>
                    <a:lnTo>
                      <a:pt x="0" y="668592"/>
                    </a:lnTo>
                    <a:close/>
                  </a:path>
                </a:pathLst>
              </a:custGeom>
              <a:solidFill>
                <a:srgbClr val="1643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8" name="Parallelogram 7">
                <a:extLst>
                  <a:ext uri="{FF2B5EF4-FFF2-40B4-BE49-F238E27FC236}">
                    <a16:creationId xmlns:a16="http://schemas.microsoft.com/office/drawing/2014/main" id="{B86E1BC7-59E7-4F47-5FB3-C02246911E2C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267572" y="389"/>
                <a:ext cx="3829094" cy="664930"/>
              </a:xfrm>
              <a:prstGeom prst="parallelogram">
                <a:avLst/>
              </a:prstGeom>
              <a:solidFill>
                <a:srgbClr val="194D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1200FC31-8FC6-FF0D-B5D2-3AAF45711FE3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4209773" y="389"/>
                <a:ext cx="4996928" cy="664930"/>
              </a:xfrm>
              <a:prstGeom prst="parallelogram">
                <a:avLst/>
              </a:prstGeom>
              <a:solidFill>
                <a:srgbClr val="1C56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9E48511E-6721-466F-BC20-6BA94574094F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8136570" y="389"/>
                <a:ext cx="6026733" cy="664930"/>
              </a:xfrm>
              <a:prstGeom prst="parallelogram">
                <a:avLst/>
              </a:prstGeom>
              <a:solidFill>
                <a:srgbClr val="1E5D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 dirty="0"/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DA1AAE42-4A62-8308-16A3-AF933411C0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280416"/>
            <a:ext cx="10972800" cy="114300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4000"/>
              </a:lnSpc>
              <a:defRPr sz="3733" b="1">
                <a:solidFill>
                  <a:srgbClr val="1E5AA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3A7AB-3BD7-6D83-E156-20B20392C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5264" y="6111521"/>
            <a:ext cx="1041453" cy="3193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F4667-BA54-714C-A549-361BBCD1E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38" t="-4371" r="-5290" b="-9440"/>
          <a:stretch/>
        </p:blipFill>
        <p:spPr>
          <a:xfrm>
            <a:off x="9582420" y="5925313"/>
            <a:ext cx="1114923" cy="717732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D3104C-B56F-273E-8CB7-21BAFD11E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21440" y="5364481"/>
            <a:ext cx="536448" cy="366183"/>
          </a:xfrm>
        </p:spPr>
        <p:txBody>
          <a:bodyPr/>
          <a:lstStyle>
            <a:lvl1pPr>
              <a:defRPr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8E7DCDC-E408-4B61-982D-00D1D5E6AE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82742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6684"/>
            <a:ext cx="10515600" cy="434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AE80B7-8459-1E57-E07B-EFD832E92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EFFA85-9BE2-6483-0D38-5E20791A6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388" y="6356350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8E7DCDC-E408-4B61-982D-00D1D5E6AE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74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lr>
          <a:srgbClr val="0033A1"/>
        </a:buClr>
        <a:buFont typeface="Arial" panose="020B0604020202020204" pitchFamily="34" charset="0"/>
        <a:buChar char="•"/>
        <a:defRPr sz="4267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lr>
          <a:srgbClr val="0033A1"/>
        </a:buClr>
        <a:buFont typeface="Arial" panose="020B0604020202020204" pitchFamily="34" charset="0"/>
        <a:buChar char="–"/>
        <a:defRPr sz="3733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Relationship Id="rId4" Type="http://schemas.microsoft.com/office/2018/10/relationships/comments" Target="../comments/modernComment_D68_148A06D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3.xml"/><Relationship Id="rId4" Type="http://schemas.microsoft.com/office/2018/10/relationships/comments" Target="../comments/modernComment_D6E_CFEA62D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6.xml"/><Relationship Id="rId4" Type="http://schemas.microsoft.com/office/2018/10/relationships/comments" Target="../comments/modernComment_D65_E6922D0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699" y="2799381"/>
            <a:ext cx="10304981" cy="1541123"/>
          </a:xfrm>
        </p:spPr>
        <p:txBody>
          <a:bodyPr/>
          <a:lstStyle/>
          <a:p>
            <a:pPr algn="ctr"/>
            <a:r>
              <a:rPr lang="en-US" altLang="en-US" dirty="0">
                <a:latin typeface="Aptos Black" panose="020F0502020204030204" pitchFamily="34" charset="0"/>
                <a:cs typeface="Calibri" panose="020F0502020204030204" pitchFamily="34" charset="0"/>
              </a:rPr>
              <a:t>Monthly Case finding Reporting Template</a:t>
            </a:r>
            <a:br>
              <a:rPr lang="en-US" altLang="en-US" dirty="0">
                <a:latin typeface="Aptos Black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000" dirty="0">
                <a:latin typeface="Aptos Black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4000" dirty="0">
                <a:solidFill>
                  <a:srgbClr val="FF0000"/>
                </a:solidFill>
                <a:latin typeface="Aptos Black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4000" dirty="0">
                <a:solidFill>
                  <a:srgbClr val="FF0000"/>
                </a:solidFill>
                <a:cs typeface="Calibri" panose="020F0502020204030204" pitchFamily="34" charset="0"/>
              </a:rPr>
              <a:t>eporting period</a:t>
            </a:r>
            <a:r>
              <a:rPr lang="en-US" sz="4000" dirty="0">
                <a:cs typeface="Calibri" panose="020F0502020204030204" pitchFamily="34" charset="0"/>
              </a:rPr>
              <a:t>)</a:t>
            </a:r>
            <a:endParaRPr lang="en-US" altLang="en-US" dirty="0">
              <a:latin typeface="Aptos Black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logo, U.S. Centers for Disease Control and Prevention">
            <a:extLst>
              <a:ext uri="{FF2B5EF4-FFF2-40B4-BE49-F238E27FC236}">
                <a16:creationId xmlns:a16="http://schemas.microsoft.com/office/drawing/2014/main" id="{E0576645-C070-9ABD-5B5F-C0670C688FB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38" t="-4371" r="-5290" b="-9440"/>
          <a:stretch/>
        </p:blipFill>
        <p:spPr>
          <a:xfrm>
            <a:off x="10780295" y="184484"/>
            <a:ext cx="1283368" cy="82616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7A529-66E2-1944-30B6-A765E66F1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71388" y="6356350"/>
            <a:ext cx="2743200" cy="366183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E7DCDC-E408-4B61-982D-00D1D5E6AEFC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321666D-552E-8B01-76C6-CB7C25ED35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35468"/>
            <a:ext cx="9868187" cy="541867"/>
          </a:xfrm>
        </p:spPr>
        <p:txBody>
          <a:bodyPr/>
          <a:lstStyle/>
          <a:p>
            <a:pPr algn="ctr"/>
            <a:r>
              <a:rPr lang="en-US" sz="3200" b="1" dirty="0">
                <a:cs typeface="Calibri" panose="020F0502020204030204" pitchFamily="34" charset="0"/>
              </a:rPr>
              <a:t>U.S. Centers for Disease Control and Prevention: Nigeria </a:t>
            </a:r>
          </a:p>
        </p:txBody>
      </p:sp>
    </p:spTree>
    <p:extLst>
      <p:ext uri="{BB962C8B-B14F-4D97-AF65-F5344CB8AC3E}">
        <p14:creationId xmlns:p14="http://schemas.microsoft.com/office/powerpoint/2010/main" val="13748535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64EFD-3DAC-CD21-3472-02EEA98A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732022-C85A-8F82-5A09-7D8089DB4E6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2"/>
            <a:ext cx="7871561" cy="402609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Case finding activities implemented during the reporting period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C0A60AE-F0E1-EB69-44AB-ADE59885B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2703A6E-9677-0617-05F3-B399A9E04A9A}"/>
              </a:ext>
            </a:extLst>
          </p:cNvPr>
          <p:cNvSpPr txBox="1">
            <a:spLocks/>
          </p:cNvSpPr>
          <p:nvPr/>
        </p:nvSpPr>
        <p:spPr bwMode="auto">
          <a:xfrm>
            <a:off x="777240" y="1655063"/>
            <a:ext cx="10104119" cy="3754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3200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3200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667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28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Advocacy/Awareness creation</a:t>
            </a:r>
          </a:p>
          <a:p>
            <a:pPr>
              <a:lnSpc>
                <a:spcPct val="90000"/>
              </a:lnSpc>
              <a:defRPr/>
            </a:pPr>
            <a:r>
              <a:rPr lang="en-US" sz="28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Strategies deployed (include strategies to reach male population)</a:t>
            </a:r>
          </a:p>
          <a:p>
            <a:pPr>
              <a:lnSpc>
                <a:spcPct val="90000"/>
              </a:lnSpc>
              <a:defRPr/>
            </a:pPr>
            <a:r>
              <a:rPr lang="en-US" sz="28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Commodity leveraging</a:t>
            </a:r>
          </a:p>
          <a:p>
            <a:pPr>
              <a:lnSpc>
                <a:spcPct val="90000"/>
              </a:lnSpc>
              <a:defRPr/>
            </a:pPr>
            <a:r>
              <a:rPr lang="en-US" sz="28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Technical Assistance</a:t>
            </a:r>
          </a:p>
          <a:p>
            <a:pPr>
              <a:lnSpc>
                <a:spcPct val="90000"/>
              </a:lnSpc>
              <a:defRPr/>
            </a:pPr>
            <a:r>
              <a:rPr lang="en-US" sz="28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Site visits</a:t>
            </a:r>
          </a:p>
          <a:p>
            <a:pPr>
              <a:lnSpc>
                <a:spcPct val="90000"/>
              </a:lnSpc>
              <a:defRPr/>
            </a:pPr>
            <a:r>
              <a:rPr lang="en-US" sz="28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HTS Tools deployment</a:t>
            </a:r>
          </a:p>
          <a:p>
            <a:pPr>
              <a:lnSpc>
                <a:spcPct val="90000"/>
              </a:lnSpc>
              <a:defRPr/>
            </a:pPr>
            <a:r>
              <a:rPr lang="en-US" sz="28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Failed Quality Control Testing</a:t>
            </a:r>
          </a:p>
        </p:txBody>
      </p:sp>
    </p:spTree>
    <p:extLst>
      <p:ext uri="{BB962C8B-B14F-4D97-AF65-F5344CB8AC3E}">
        <p14:creationId xmlns:p14="http://schemas.microsoft.com/office/powerpoint/2010/main" val="329561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6CC91-CD51-EFDF-20AB-6AE069BB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A1EDFD-4452-FABA-52CB-33F438FF8C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2"/>
            <a:ext cx="7871561" cy="623273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HIV Testing Services Updates – </a:t>
            </a:r>
            <a:r>
              <a:rPr lang="en-US" sz="2800" dirty="0">
                <a:solidFill>
                  <a:srgbClr val="FF0000"/>
                </a:solidFill>
                <a:cs typeface="Calibri" panose="020F0502020204030204" pitchFamily="34" charset="0"/>
              </a:rPr>
              <a:t>for Gen </a:t>
            </a:r>
            <a:r>
              <a:rPr lang="en-US" sz="2800" dirty="0" err="1">
                <a:solidFill>
                  <a:srgbClr val="FF0000"/>
                </a:solidFill>
                <a:cs typeface="Calibri" panose="020F0502020204030204" pitchFamily="34" charset="0"/>
              </a:rPr>
              <a:t>PoP</a:t>
            </a:r>
            <a:r>
              <a:rPr lang="en-US" sz="2800" dirty="0">
                <a:solidFill>
                  <a:srgbClr val="FF0000"/>
                </a:solidFill>
                <a:cs typeface="Calibri" panose="020F0502020204030204" pitchFamily="34" charset="0"/>
              </a:rPr>
              <a:t> </a:t>
            </a:r>
            <a:r>
              <a:rPr lang="en-US" sz="2800" dirty="0">
                <a:cs typeface="Calibri" panose="020F0502020204030204" pitchFamily="34" charset="0"/>
              </a:rPr>
              <a:t>During the reporting period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0B2EAC-D209-F907-AEFC-03A165AA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8A5F12-F34E-696F-FDFF-9848DAE1B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835568"/>
              </p:ext>
            </p:extLst>
          </p:nvPr>
        </p:nvGraphicFramePr>
        <p:xfrm>
          <a:off x="1442065" y="1781550"/>
          <a:ext cx="9343922" cy="3387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838">
                  <a:extLst>
                    <a:ext uri="{9D8B030D-6E8A-4147-A177-3AD203B41FA5}">
                      <a16:colId xmlns:a16="http://schemas.microsoft.com/office/drawing/2014/main" val="3252739480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3070365185"/>
                    </a:ext>
                  </a:extLst>
                </a:gridCol>
                <a:gridCol w="1166762">
                  <a:extLst>
                    <a:ext uri="{9D8B030D-6E8A-4147-A177-3AD203B41FA5}">
                      <a16:colId xmlns:a16="http://schemas.microsoft.com/office/drawing/2014/main" val="3262112757"/>
                    </a:ext>
                  </a:extLst>
                </a:gridCol>
                <a:gridCol w="1478116">
                  <a:extLst>
                    <a:ext uri="{9D8B030D-6E8A-4147-A177-3AD203B41FA5}">
                      <a16:colId xmlns:a16="http://schemas.microsoft.com/office/drawing/2014/main" val="3924250615"/>
                    </a:ext>
                  </a:extLst>
                </a:gridCol>
                <a:gridCol w="1160206">
                  <a:extLst>
                    <a:ext uri="{9D8B030D-6E8A-4147-A177-3AD203B41FA5}">
                      <a16:colId xmlns:a16="http://schemas.microsoft.com/office/drawing/2014/main" val="4076947876"/>
                    </a:ext>
                  </a:extLst>
                </a:gridCol>
                <a:gridCol w="1494503">
                  <a:extLst>
                    <a:ext uri="{9D8B030D-6E8A-4147-A177-3AD203B41FA5}">
                      <a16:colId xmlns:a16="http://schemas.microsoft.com/office/drawing/2014/main" val="2473973682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1194349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Number of persons Tested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Number of persons Tested 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Total Number of persons Tested </a:t>
                      </a:r>
                    </a:p>
                    <a:p>
                      <a:r>
                        <a:rPr lang="en-US" sz="1400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Positivity rate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Number Linked to 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Linkage Rate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861680"/>
                  </a:ext>
                </a:extLst>
              </a:tr>
              <a:tr h="40022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74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65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48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30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9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90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6950BFC3-D8DA-4A85-94F7-54DA5524770B}">
      <p188:commentRel xmlns:p188="http://schemas.microsoft.com/office/powerpoint/2018/8/main" r:id="rId4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E67B4-DB92-D9C5-3780-55F6AFE2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27D8A8-B791-F4FD-AD85-21DBBDFCA8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2"/>
            <a:ext cx="7871561" cy="623273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HIV Testing Services Updates – </a:t>
            </a:r>
            <a:r>
              <a:rPr lang="en-US" sz="2800" dirty="0">
                <a:solidFill>
                  <a:srgbClr val="FF0000"/>
                </a:solidFill>
                <a:cs typeface="Calibri" panose="020F0502020204030204" pitchFamily="34" charset="0"/>
              </a:rPr>
              <a:t>Cumulative For Gen Pop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7FE7838-7E33-D6B5-8768-B18506C1C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789FE5-9B2E-6375-A0B8-9C4589FB3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791663"/>
              </p:ext>
            </p:extLst>
          </p:nvPr>
        </p:nvGraphicFramePr>
        <p:xfrm>
          <a:off x="1442065" y="1781550"/>
          <a:ext cx="9343922" cy="3387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838">
                  <a:extLst>
                    <a:ext uri="{9D8B030D-6E8A-4147-A177-3AD203B41FA5}">
                      <a16:colId xmlns:a16="http://schemas.microsoft.com/office/drawing/2014/main" val="3252739480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3070365185"/>
                    </a:ext>
                  </a:extLst>
                </a:gridCol>
                <a:gridCol w="1166762">
                  <a:extLst>
                    <a:ext uri="{9D8B030D-6E8A-4147-A177-3AD203B41FA5}">
                      <a16:colId xmlns:a16="http://schemas.microsoft.com/office/drawing/2014/main" val="3262112757"/>
                    </a:ext>
                  </a:extLst>
                </a:gridCol>
                <a:gridCol w="1478116">
                  <a:extLst>
                    <a:ext uri="{9D8B030D-6E8A-4147-A177-3AD203B41FA5}">
                      <a16:colId xmlns:a16="http://schemas.microsoft.com/office/drawing/2014/main" val="3924250615"/>
                    </a:ext>
                  </a:extLst>
                </a:gridCol>
                <a:gridCol w="1160206">
                  <a:extLst>
                    <a:ext uri="{9D8B030D-6E8A-4147-A177-3AD203B41FA5}">
                      <a16:colId xmlns:a16="http://schemas.microsoft.com/office/drawing/2014/main" val="4076947876"/>
                    </a:ext>
                  </a:extLst>
                </a:gridCol>
                <a:gridCol w="1494503">
                  <a:extLst>
                    <a:ext uri="{9D8B030D-6E8A-4147-A177-3AD203B41FA5}">
                      <a16:colId xmlns:a16="http://schemas.microsoft.com/office/drawing/2014/main" val="2473973682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1194349053"/>
                    </a:ext>
                  </a:extLst>
                </a:gridCol>
              </a:tblGrid>
              <a:tr h="385790">
                <a:tc>
                  <a:txBody>
                    <a:bodyPr/>
                    <a:lstStyle/>
                    <a:p>
                      <a:r>
                        <a:rPr lang="en-US" sz="14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Number of persons Tested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Number of persons Tested 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Total Number of persons Tested </a:t>
                      </a:r>
                    </a:p>
                    <a:p>
                      <a:r>
                        <a:rPr lang="en-US" sz="1400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Positivity rate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Number Linked to 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Linkage Rate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861680"/>
                  </a:ext>
                </a:extLst>
              </a:tr>
              <a:tr h="40022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74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65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48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30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9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244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6950BFC3-D8DA-4A85-94F7-54DA5524770B}">
      <p188:commentRel xmlns:p188="http://schemas.microsoft.com/office/powerpoint/2018/8/main" r:id="rId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CD8CE-C470-4133-EF0A-B8F0A907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892B73-9AD8-830C-60BC-9EE8E819EBE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2"/>
            <a:ext cx="7871561" cy="623273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HIV Testing Services Updates – </a:t>
            </a:r>
            <a:r>
              <a:rPr lang="en-US" sz="2800" dirty="0">
                <a:solidFill>
                  <a:srgbClr val="FF0000"/>
                </a:solidFill>
                <a:cs typeface="Calibri" panose="020F0502020204030204" pitchFamily="34" charset="0"/>
              </a:rPr>
              <a:t>For Persons at High Risk for HIV during the reporting period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A2B896D-7048-4722-1EF3-F9133B1F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1FBD6D-56DE-6360-0401-FFD1F7CCB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22216"/>
              </p:ext>
            </p:extLst>
          </p:nvPr>
        </p:nvGraphicFramePr>
        <p:xfrm>
          <a:off x="1442065" y="1781550"/>
          <a:ext cx="9343922" cy="3173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838">
                  <a:extLst>
                    <a:ext uri="{9D8B030D-6E8A-4147-A177-3AD203B41FA5}">
                      <a16:colId xmlns:a16="http://schemas.microsoft.com/office/drawing/2014/main" val="3252739480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3070365185"/>
                    </a:ext>
                  </a:extLst>
                </a:gridCol>
                <a:gridCol w="1166762">
                  <a:extLst>
                    <a:ext uri="{9D8B030D-6E8A-4147-A177-3AD203B41FA5}">
                      <a16:colId xmlns:a16="http://schemas.microsoft.com/office/drawing/2014/main" val="3262112757"/>
                    </a:ext>
                  </a:extLst>
                </a:gridCol>
                <a:gridCol w="1478116">
                  <a:extLst>
                    <a:ext uri="{9D8B030D-6E8A-4147-A177-3AD203B41FA5}">
                      <a16:colId xmlns:a16="http://schemas.microsoft.com/office/drawing/2014/main" val="3924250615"/>
                    </a:ext>
                  </a:extLst>
                </a:gridCol>
                <a:gridCol w="1160206">
                  <a:extLst>
                    <a:ext uri="{9D8B030D-6E8A-4147-A177-3AD203B41FA5}">
                      <a16:colId xmlns:a16="http://schemas.microsoft.com/office/drawing/2014/main" val="4076947876"/>
                    </a:ext>
                  </a:extLst>
                </a:gridCol>
                <a:gridCol w="1494503">
                  <a:extLst>
                    <a:ext uri="{9D8B030D-6E8A-4147-A177-3AD203B41FA5}">
                      <a16:colId xmlns:a16="http://schemas.microsoft.com/office/drawing/2014/main" val="2473973682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1194349053"/>
                    </a:ext>
                  </a:extLst>
                </a:gridCol>
              </a:tblGrid>
              <a:tr h="385790">
                <a:tc>
                  <a:txBody>
                    <a:bodyPr/>
                    <a:lstStyle/>
                    <a:p>
                      <a:r>
                        <a:rPr lang="en-US" sz="14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Total Number of persons at high risk tested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Number Tested 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Total Number of persons Tested </a:t>
                      </a:r>
                    </a:p>
                    <a:p>
                      <a:r>
                        <a:rPr lang="en-US" sz="1400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Positivity rate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Number Linked to 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Linkage Rate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861680"/>
                  </a:ext>
                </a:extLst>
              </a:tr>
              <a:tr h="40022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74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65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48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30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9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190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EE270-35FF-4964-1DCF-08429D2B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8EA029-0F5A-27AE-F4C1-B2883087F4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2"/>
            <a:ext cx="7871561" cy="623273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HIV Testing Services Updates – </a:t>
            </a:r>
            <a:r>
              <a:rPr lang="en-US" sz="2800" dirty="0">
                <a:solidFill>
                  <a:srgbClr val="FF0000"/>
                </a:solidFill>
                <a:cs typeface="Calibri" panose="020F0502020204030204" pitchFamily="34" charset="0"/>
              </a:rPr>
              <a:t>Cumulative for Persons at High Risk for HIV during the reporting period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D46937C-6BDD-C5A9-AA11-32C991A78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7B40FE-3320-0D7F-811A-EEF134E30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776608"/>
              </p:ext>
            </p:extLst>
          </p:nvPr>
        </p:nvGraphicFramePr>
        <p:xfrm>
          <a:off x="1442065" y="1781550"/>
          <a:ext cx="9343922" cy="3173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838">
                  <a:extLst>
                    <a:ext uri="{9D8B030D-6E8A-4147-A177-3AD203B41FA5}">
                      <a16:colId xmlns:a16="http://schemas.microsoft.com/office/drawing/2014/main" val="3252739480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3070365185"/>
                    </a:ext>
                  </a:extLst>
                </a:gridCol>
                <a:gridCol w="1166762">
                  <a:extLst>
                    <a:ext uri="{9D8B030D-6E8A-4147-A177-3AD203B41FA5}">
                      <a16:colId xmlns:a16="http://schemas.microsoft.com/office/drawing/2014/main" val="3262112757"/>
                    </a:ext>
                  </a:extLst>
                </a:gridCol>
                <a:gridCol w="1478116">
                  <a:extLst>
                    <a:ext uri="{9D8B030D-6E8A-4147-A177-3AD203B41FA5}">
                      <a16:colId xmlns:a16="http://schemas.microsoft.com/office/drawing/2014/main" val="3924250615"/>
                    </a:ext>
                  </a:extLst>
                </a:gridCol>
                <a:gridCol w="1160206">
                  <a:extLst>
                    <a:ext uri="{9D8B030D-6E8A-4147-A177-3AD203B41FA5}">
                      <a16:colId xmlns:a16="http://schemas.microsoft.com/office/drawing/2014/main" val="4076947876"/>
                    </a:ext>
                  </a:extLst>
                </a:gridCol>
                <a:gridCol w="1494503">
                  <a:extLst>
                    <a:ext uri="{9D8B030D-6E8A-4147-A177-3AD203B41FA5}">
                      <a16:colId xmlns:a16="http://schemas.microsoft.com/office/drawing/2014/main" val="2473973682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1194349053"/>
                    </a:ext>
                  </a:extLst>
                </a:gridCol>
              </a:tblGrid>
              <a:tr h="385790">
                <a:tc>
                  <a:txBody>
                    <a:bodyPr/>
                    <a:lstStyle/>
                    <a:p>
                      <a:r>
                        <a:rPr lang="en-US" sz="14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Total Number of persons at high risk tested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Number Tested 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Total Number of persons Tested </a:t>
                      </a:r>
                    </a:p>
                    <a:p>
                      <a:r>
                        <a:rPr lang="en-US" sz="1400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Positivity rate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Number Linked to 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Linkage Rate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861680"/>
                  </a:ext>
                </a:extLst>
              </a:tr>
              <a:tr h="40022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74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65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48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30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9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17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3719B-14EB-0D62-859A-2E4DB402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04302E-3C99-C2B6-910C-E6237A1DAC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2"/>
            <a:ext cx="7871561" cy="623273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Yield by modality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738337A-3DFE-3655-ECCA-0841EDD38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AC12B8-4E17-3B43-411A-DEE9925A8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657655"/>
              </p:ext>
            </p:extLst>
          </p:nvPr>
        </p:nvGraphicFramePr>
        <p:xfrm>
          <a:off x="1631015" y="1877962"/>
          <a:ext cx="8771514" cy="356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919">
                  <a:extLst>
                    <a:ext uri="{9D8B030D-6E8A-4147-A177-3AD203B41FA5}">
                      <a16:colId xmlns:a16="http://schemas.microsoft.com/office/drawing/2014/main" val="2631665862"/>
                    </a:ext>
                  </a:extLst>
                </a:gridCol>
                <a:gridCol w="1461919">
                  <a:extLst>
                    <a:ext uri="{9D8B030D-6E8A-4147-A177-3AD203B41FA5}">
                      <a16:colId xmlns:a16="http://schemas.microsoft.com/office/drawing/2014/main" val="1311499309"/>
                    </a:ext>
                  </a:extLst>
                </a:gridCol>
                <a:gridCol w="1461919">
                  <a:extLst>
                    <a:ext uri="{9D8B030D-6E8A-4147-A177-3AD203B41FA5}">
                      <a16:colId xmlns:a16="http://schemas.microsoft.com/office/drawing/2014/main" val="165072575"/>
                    </a:ext>
                  </a:extLst>
                </a:gridCol>
                <a:gridCol w="1461919">
                  <a:extLst>
                    <a:ext uri="{9D8B030D-6E8A-4147-A177-3AD203B41FA5}">
                      <a16:colId xmlns:a16="http://schemas.microsoft.com/office/drawing/2014/main" val="1908273300"/>
                    </a:ext>
                  </a:extLst>
                </a:gridCol>
                <a:gridCol w="1461919">
                  <a:extLst>
                    <a:ext uri="{9D8B030D-6E8A-4147-A177-3AD203B41FA5}">
                      <a16:colId xmlns:a16="http://schemas.microsoft.com/office/drawing/2014/main" val="1148482285"/>
                    </a:ext>
                  </a:extLst>
                </a:gridCol>
                <a:gridCol w="1461919">
                  <a:extLst>
                    <a:ext uri="{9D8B030D-6E8A-4147-A177-3AD203B41FA5}">
                      <a16:colId xmlns:a16="http://schemas.microsoft.com/office/drawing/2014/main" val="1597011996"/>
                    </a:ext>
                  </a:extLst>
                </a:gridCol>
              </a:tblGrid>
              <a:tr h="331714">
                <a:tc>
                  <a:txBody>
                    <a:bodyPr/>
                    <a:lstStyle/>
                    <a:p>
                      <a:r>
                        <a:rPr lang="en-US" sz="16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Number of persons tested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Number of persons tested positive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Percentage contribution to total positives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Yield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8419"/>
                  </a:ext>
                </a:extLst>
              </a:tr>
              <a:tr h="50026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882392"/>
                  </a:ext>
                </a:extLst>
              </a:tr>
              <a:tr h="5002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049570"/>
                  </a:ext>
                </a:extLst>
              </a:tr>
              <a:tr h="5002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75915"/>
                  </a:ext>
                </a:extLst>
              </a:tr>
              <a:tr h="5002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789703"/>
                  </a:ext>
                </a:extLst>
              </a:tr>
              <a:tr h="5002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847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339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6950BFC3-D8DA-4A85-94F7-54DA5524770B}">
      <p188:commentRel xmlns:p188="http://schemas.microsoft.com/office/powerpoint/2018/8/main" r:id="rId4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0C404-E685-ADC1-47E0-DAE8E73A9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04172D-8B6B-725B-DA50-BE7EE58BB4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2"/>
            <a:ext cx="7871561" cy="623273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HTS by sex disaggregation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A72C204-CAF2-144C-8FDB-EAF774D56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A5D121-531A-2A46-971D-4E0B8CEE9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373048"/>
              </p:ext>
            </p:extLst>
          </p:nvPr>
        </p:nvGraphicFramePr>
        <p:xfrm>
          <a:off x="983226" y="1435509"/>
          <a:ext cx="9147275" cy="4853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455">
                  <a:extLst>
                    <a:ext uri="{9D8B030D-6E8A-4147-A177-3AD203B41FA5}">
                      <a16:colId xmlns:a16="http://schemas.microsoft.com/office/drawing/2014/main" val="284096946"/>
                    </a:ext>
                  </a:extLst>
                </a:gridCol>
                <a:gridCol w="1829455">
                  <a:extLst>
                    <a:ext uri="{9D8B030D-6E8A-4147-A177-3AD203B41FA5}">
                      <a16:colId xmlns:a16="http://schemas.microsoft.com/office/drawing/2014/main" val="1311499309"/>
                    </a:ext>
                  </a:extLst>
                </a:gridCol>
                <a:gridCol w="1829455">
                  <a:extLst>
                    <a:ext uri="{9D8B030D-6E8A-4147-A177-3AD203B41FA5}">
                      <a16:colId xmlns:a16="http://schemas.microsoft.com/office/drawing/2014/main" val="165072575"/>
                    </a:ext>
                  </a:extLst>
                </a:gridCol>
                <a:gridCol w="1829455">
                  <a:extLst>
                    <a:ext uri="{9D8B030D-6E8A-4147-A177-3AD203B41FA5}">
                      <a16:colId xmlns:a16="http://schemas.microsoft.com/office/drawing/2014/main" val="1908273300"/>
                    </a:ext>
                  </a:extLst>
                </a:gridCol>
                <a:gridCol w="1829455">
                  <a:extLst>
                    <a:ext uri="{9D8B030D-6E8A-4147-A177-3AD203B41FA5}">
                      <a16:colId xmlns:a16="http://schemas.microsoft.com/office/drawing/2014/main" val="1597011996"/>
                    </a:ext>
                  </a:extLst>
                </a:gridCol>
              </a:tblGrid>
              <a:tr h="560439">
                <a:tc>
                  <a:txBody>
                    <a:bodyPr/>
                    <a:lstStyle/>
                    <a:p>
                      <a:r>
                        <a:rPr lang="en-US" sz="2000" dirty="0"/>
                        <a:t>State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Disaggregation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Number Tested </a:t>
                      </a:r>
                    </a:p>
                    <a:p>
                      <a:endParaRPr lang="en-US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Number Positive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Yield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8419"/>
                  </a:ext>
                </a:extLst>
              </a:tr>
              <a:tr h="457677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41882392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88049570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275915"/>
                  </a:ext>
                </a:extLst>
              </a:tr>
              <a:tr h="457677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20789703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88847821"/>
                  </a:ext>
                </a:extLst>
              </a:tr>
              <a:tr h="49119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035899"/>
                  </a:ext>
                </a:extLst>
              </a:tr>
              <a:tr h="457677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5736384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09296915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72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885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58E0E-0DF8-C4B0-19A6-51BA038F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5AEB74-5734-5AC4-25B7-3CD029CEEF5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2"/>
            <a:ext cx="7871561" cy="623273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HTS by Age disaggregation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4BCD3A-3832-5103-0465-34BDAC73D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003AC6-2900-EC14-F505-29A45D75D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0750"/>
              </p:ext>
            </p:extLst>
          </p:nvPr>
        </p:nvGraphicFramePr>
        <p:xfrm>
          <a:off x="1631093" y="1046205"/>
          <a:ext cx="8336696" cy="4524012"/>
        </p:xfrm>
        <a:graphic>
          <a:graphicData uri="http://schemas.openxmlformats.org/drawingml/2006/table">
            <a:tbl>
              <a:tblPr/>
              <a:tblGrid>
                <a:gridCol w="2336686">
                  <a:extLst>
                    <a:ext uri="{9D8B030D-6E8A-4147-A177-3AD203B41FA5}">
                      <a16:colId xmlns:a16="http://schemas.microsoft.com/office/drawing/2014/main" val="2483609616"/>
                    </a:ext>
                  </a:extLst>
                </a:gridCol>
                <a:gridCol w="2336686">
                  <a:extLst>
                    <a:ext uri="{9D8B030D-6E8A-4147-A177-3AD203B41FA5}">
                      <a16:colId xmlns:a16="http://schemas.microsoft.com/office/drawing/2014/main" val="1914119566"/>
                    </a:ext>
                  </a:extLst>
                </a:gridCol>
                <a:gridCol w="1221108">
                  <a:extLst>
                    <a:ext uri="{9D8B030D-6E8A-4147-A177-3AD203B41FA5}">
                      <a16:colId xmlns:a16="http://schemas.microsoft.com/office/drawing/2014/main" val="1149720857"/>
                    </a:ext>
                  </a:extLst>
                </a:gridCol>
                <a:gridCol w="1221108">
                  <a:extLst>
                    <a:ext uri="{9D8B030D-6E8A-4147-A177-3AD203B41FA5}">
                      <a16:colId xmlns:a16="http://schemas.microsoft.com/office/drawing/2014/main" val="377762259"/>
                    </a:ext>
                  </a:extLst>
                </a:gridCol>
                <a:gridCol w="1221108">
                  <a:extLst>
                    <a:ext uri="{9D8B030D-6E8A-4147-A177-3AD203B41FA5}">
                      <a16:colId xmlns:a16="http://schemas.microsoft.com/office/drawing/2014/main" val="4207380715"/>
                    </a:ext>
                  </a:extLst>
                </a:gridCol>
              </a:tblGrid>
              <a:tr h="65309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Myriad Web Pro"/>
                        </a:rPr>
                        <a:t>State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08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Myriad Web Pro"/>
                        </a:rPr>
                        <a:t>Disaggregation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08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Myriad Web Pro"/>
                        </a:rPr>
                        <a:t>Number Tested 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08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Myriad Web Pro"/>
                        </a:rPr>
                        <a:t>Number Positive 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08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Myriad Web Pro"/>
                        </a:rPr>
                        <a:t>Yield 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252866"/>
                  </a:ext>
                </a:extLst>
              </a:tr>
              <a:tr h="316012">
                <a:tc rowSpan="6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0-4 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565415"/>
                  </a:ext>
                </a:extLst>
              </a:tr>
              <a:tr h="3160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5-9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108265"/>
                  </a:ext>
                </a:extLst>
              </a:tr>
              <a:tr h="3160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10-14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267661"/>
                  </a:ext>
                </a:extLst>
              </a:tr>
              <a:tr h="3160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15-19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7406"/>
                  </a:ext>
                </a:extLst>
              </a:tr>
              <a:tr h="329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Aptos Narrow" panose="020B0004020202020204" pitchFamily="34" charset="0"/>
                        </a:rPr>
                        <a:t>≥</a:t>
                      </a: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20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160382"/>
                  </a:ext>
                </a:extLst>
              </a:tr>
              <a:tr h="323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Total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428072"/>
                  </a:ext>
                </a:extLst>
              </a:tr>
              <a:tr h="323340">
                <a:tc rowSpan="6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0-4 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114624"/>
                  </a:ext>
                </a:extLst>
              </a:tr>
              <a:tr h="323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5-9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40392"/>
                  </a:ext>
                </a:extLst>
              </a:tr>
              <a:tr h="323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10-14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07934"/>
                  </a:ext>
                </a:extLst>
              </a:tr>
              <a:tr h="323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15-19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252255"/>
                  </a:ext>
                </a:extLst>
              </a:tr>
              <a:tr h="3370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Aptos Narrow" panose="020B0004020202020204" pitchFamily="34" charset="0"/>
                        </a:rPr>
                        <a:t>≥</a:t>
                      </a: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20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063261"/>
                  </a:ext>
                </a:extLst>
              </a:tr>
              <a:tr h="323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F56DC"/>
                          </a:solidFill>
                          <a:effectLst/>
                          <a:latin typeface="Myriad Web Pro"/>
                        </a:rPr>
                        <a:t>Total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4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537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F39F3-A71A-474E-03EB-84194DC5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432A47-3E49-FE72-79DD-E422F5D9FB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3"/>
            <a:ext cx="7871561" cy="499780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HIVST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1F4B90-6A11-503B-3802-A7B667432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F3B46E-2074-6C5E-A6FA-EFFF6C70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370235"/>
              </p:ext>
            </p:extLst>
          </p:nvPr>
        </p:nvGraphicFramePr>
        <p:xfrm>
          <a:off x="1010658" y="1211777"/>
          <a:ext cx="9925565" cy="509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922">
                  <a:extLst>
                    <a:ext uri="{9D8B030D-6E8A-4147-A177-3AD203B41FA5}">
                      <a16:colId xmlns:a16="http://schemas.microsoft.com/office/drawing/2014/main" val="284096946"/>
                    </a:ext>
                  </a:extLst>
                </a:gridCol>
                <a:gridCol w="1331956">
                  <a:extLst>
                    <a:ext uri="{9D8B030D-6E8A-4147-A177-3AD203B41FA5}">
                      <a16:colId xmlns:a16="http://schemas.microsoft.com/office/drawing/2014/main" val="1311499309"/>
                    </a:ext>
                  </a:extLst>
                </a:gridCol>
                <a:gridCol w="764548">
                  <a:extLst>
                    <a:ext uri="{9D8B030D-6E8A-4147-A177-3AD203B41FA5}">
                      <a16:colId xmlns:a16="http://schemas.microsoft.com/office/drawing/2014/main" val="165072575"/>
                    </a:ext>
                  </a:extLst>
                </a:gridCol>
                <a:gridCol w="784746">
                  <a:extLst>
                    <a:ext uri="{9D8B030D-6E8A-4147-A177-3AD203B41FA5}">
                      <a16:colId xmlns:a16="http://schemas.microsoft.com/office/drawing/2014/main" val="543999405"/>
                    </a:ext>
                  </a:extLst>
                </a:gridCol>
                <a:gridCol w="770490">
                  <a:extLst>
                    <a:ext uri="{9D8B030D-6E8A-4147-A177-3AD203B41FA5}">
                      <a16:colId xmlns:a16="http://schemas.microsoft.com/office/drawing/2014/main" val="3479364058"/>
                    </a:ext>
                  </a:extLst>
                </a:gridCol>
                <a:gridCol w="1657856">
                  <a:extLst>
                    <a:ext uri="{9D8B030D-6E8A-4147-A177-3AD203B41FA5}">
                      <a16:colId xmlns:a16="http://schemas.microsoft.com/office/drawing/2014/main" val="1908273300"/>
                    </a:ext>
                  </a:extLst>
                </a:gridCol>
                <a:gridCol w="2289987">
                  <a:extLst>
                    <a:ext uri="{9D8B030D-6E8A-4147-A177-3AD203B41FA5}">
                      <a16:colId xmlns:a16="http://schemas.microsoft.com/office/drawing/2014/main" val="1597011996"/>
                    </a:ext>
                  </a:extLst>
                </a:gridCol>
                <a:gridCol w="1523060">
                  <a:extLst>
                    <a:ext uri="{9D8B030D-6E8A-4147-A177-3AD203B41FA5}">
                      <a16:colId xmlns:a16="http://schemas.microsoft.com/office/drawing/2014/main" val="2007042390"/>
                    </a:ext>
                  </a:extLst>
                </a:gridCol>
              </a:tblGrid>
              <a:tr h="560439">
                <a:tc>
                  <a:txBody>
                    <a:bodyPr/>
                    <a:lstStyle/>
                    <a:p>
                      <a:r>
                        <a:rPr lang="en-US" sz="1400" dirty="0"/>
                        <a:t>State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Method 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Number Distributed  </a:t>
                      </a:r>
                    </a:p>
                    <a:p>
                      <a:r>
                        <a:rPr lang="en-US" sz="1400" dirty="0"/>
                        <a:t>Male         Female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 reactive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 Confirmed HIV Positive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Confirmed HIV Positive and on ART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Contribution to HTS_POS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8419"/>
                  </a:ext>
                </a:extLst>
              </a:tr>
              <a:tr h="457677">
                <a:tc rowSpan="3"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Assisted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Male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Female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41882392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Unassisted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88049570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Total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275915"/>
                  </a:ext>
                </a:extLst>
              </a:tr>
              <a:tr h="457677">
                <a:tc rowSpan="3"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Assisted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20789703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Unassisted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88847821"/>
                  </a:ext>
                </a:extLst>
              </a:tr>
              <a:tr h="49119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Total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035899"/>
                  </a:ext>
                </a:extLst>
              </a:tr>
              <a:tr h="457677">
                <a:tc rowSpan="3"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Assisted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5736384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Unassisted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09296915"/>
                  </a:ext>
                </a:extLst>
              </a:tr>
              <a:tr h="4576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Total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72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87740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4F9C-D8B9-E968-FC94-C2E1BF61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of RTKS (Regular RTKs and HIVST kits) per state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5BD0C-482C-3895-E5C1-15BE8A9F3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46F2A-95EC-C85D-05F2-7CDB6A7C50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96E0F-DCFE-D21D-636B-FCE8BB178B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E1A0740-F252-4427-A288-A0F9AF0CD4D9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B956F7-F457-3589-A608-CBC04357F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449464"/>
              </p:ext>
            </p:extLst>
          </p:nvPr>
        </p:nvGraphicFramePr>
        <p:xfrm>
          <a:off x="609599" y="1253906"/>
          <a:ext cx="10972798" cy="480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27639296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34201311"/>
                    </a:ext>
                  </a:extLst>
                </a:gridCol>
                <a:gridCol w="5486398">
                  <a:extLst>
                    <a:ext uri="{9D8B030D-6E8A-4147-A177-3AD203B41FA5}">
                      <a16:colId xmlns:a16="http://schemas.microsoft.com/office/drawing/2014/main" val="4084202735"/>
                    </a:ext>
                  </a:extLst>
                </a:gridCol>
              </a:tblGrid>
              <a:tr h="6392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 RTKs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HIVST kits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49178"/>
                  </a:ext>
                </a:extLst>
              </a:tr>
              <a:tr h="88268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Opening balance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835729"/>
                  </a:ext>
                </a:extLst>
              </a:tr>
              <a:tr h="88268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# Received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661231"/>
                  </a:ext>
                </a:extLst>
              </a:tr>
              <a:tr h="88268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# used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80430"/>
                  </a:ext>
                </a:extLst>
              </a:tr>
              <a:tr h="88268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Stock balance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772896"/>
                  </a:ext>
                </a:extLst>
              </a:tr>
              <a:tr h="6392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476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10880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73A13-18A0-324C-4C65-E9E28BB1A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2BC920-6C5E-9549-4D8E-72856AAE16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87772"/>
            <a:ext cx="7871561" cy="623273"/>
          </a:xfrm>
          <a:ln>
            <a:noFill/>
          </a:ln>
        </p:spPr>
        <p:txBody>
          <a:bodyPr/>
          <a:lstStyle/>
          <a:p>
            <a:pPr algn="ctr"/>
            <a:r>
              <a:rPr lang="en-US" sz="3200" dirty="0">
                <a:cs typeface="Calibri" panose="020F0502020204030204" pitchFamily="34" charset="0"/>
              </a:rPr>
              <a:t>HIV Retesting for Verification of Positives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C9AB8DF-2E54-3730-A2E6-019A37F17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F270C9-5A50-E441-3B9A-36D8C7B27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983169"/>
              </p:ext>
            </p:extLst>
          </p:nvPr>
        </p:nvGraphicFramePr>
        <p:xfrm>
          <a:off x="714374" y="1117220"/>
          <a:ext cx="10715624" cy="4997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906">
                  <a:extLst>
                    <a:ext uri="{9D8B030D-6E8A-4147-A177-3AD203B41FA5}">
                      <a16:colId xmlns:a16="http://schemas.microsoft.com/office/drawing/2014/main" val="1311499309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65072575"/>
                    </a:ext>
                  </a:extLst>
                </a:gridCol>
                <a:gridCol w="1339453">
                  <a:extLst>
                    <a:ext uri="{9D8B030D-6E8A-4147-A177-3AD203B41FA5}">
                      <a16:colId xmlns:a16="http://schemas.microsoft.com/office/drawing/2014/main" val="1908273300"/>
                    </a:ext>
                  </a:extLst>
                </a:gridCol>
                <a:gridCol w="1339453">
                  <a:extLst>
                    <a:ext uri="{9D8B030D-6E8A-4147-A177-3AD203B41FA5}">
                      <a16:colId xmlns:a16="http://schemas.microsoft.com/office/drawing/2014/main" val="1117583492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597011996"/>
                    </a:ext>
                  </a:extLst>
                </a:gridCol>
              </a:tblGrid>
              <a:tr h="1327994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State</a:t>
                      </a:r>
                    </a:p>
                    <a:p>
                      <a:endParaRPr lang="en-US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Number of Tests Done </a:t>
                      </a:r>
                    </a:p>
                    <a:p>
                      <a:endParaRPr lang="en-US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Number of Positives </a:t>
                      </a:r>
                    </a:p>
                    <a:p>
                      <a:endParaRPr lang="en-US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Number retested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Number of Discordant Identified</a:t>
                      </a:r>
                    </a:p>
                    <a:p>
                      <a:endParaRPr lang="en-US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8419"/>
                  </a:ext>
                </a:extLst>
              </a:tr>
              <a:tr h="6042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41882392"/>
                  </a:ext>
                </a:extLst>
              </a:tr>
              <a:tr h="6042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88049570"/>
                  </a:ext>
                </a:extLst>
              </a:tr>
              <a:tr h="6042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275915"/>
                  </a:ext>
                </a:extLst>
              </a:tr>
              <a:tr h="6042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20789703"/>
                  </a:ext>
                </a:extLst>
              </a:tr>
              <a:tr h="6042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88847821"/>
                  </a:ext>
                </a:extLst>
              </a:tr>
              <a:tr h="64851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03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713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4801-0C46-3137-5E4A-201D1579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 on HTS Trainings per state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46AD-A63A-ABAA-FE8D-64EAFA6C52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# of trainings conducted</a:t>
            </a:r>
          </a:p>
          <a:p>
            <a:r>
              <a:rPr lang="en-US" dirty="0"/>
              <a:t># of Trained personnel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2D1C9-EABB-EF0F-75D3-13B7A20439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91E35-4408-589E-06F1-00C6320551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E1A0740-F252-4427-A288-A0F9AF0CD4D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7034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0E3BA-8803-5608-F211-AC4F517F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F806D2-472D-2FCD-3358-1EA48CA440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933" y="448056"/>
            <a:ext cx="7718995" cy="704088"/>
          </a:xfrm>
          <a:ln>
            <a:noFill/>
          </a:ln>
        </p:spPr>
        <p:txBody>
          <a:bodyPr/>
          <a:lstStyle/>
          <a:p>
            <a:pPr algn="ctr"/>
            <a:r>
              <a:rPr lang="en-US" sz="2800" dirty="0">
                <a:cs typeface="Calibri" panose="020F0502020204030204" pitchFamily="34" charset="0"/>
              </a:rPr>
              <a:t>Challenges and </a:t>
            </a:r>
            <a:r>
              <a:rPr lang="en-US" sz="2800">
                <a:cs typeface="Calibri" panose="020F0502020204030204" pitchFamily="34" charset="0"/>
              </a:rPr>
              <a:t>Recommendations D</a:t>
            </a:r>
            <a:endParaRPr lang="en-US" sz="2800" dirty="0">
              <a:cs typeface="Calibri" panose="020F050202020403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39442E9-279F-B1A3-94C0-C8CC7943E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58337" y="6424706"/>
            <a:ext cx="496705" cy="311532"/>
          </a:xfrm>
        </p:spPr>
        <p:txBody>
          <a:bodyPr/>
          <a:lstStyle/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1A0740-F252-4427-A288-A0F9AF0CD4D9}" type="slidenum"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0057B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1F95186-2048-EC93-19A3-3575E4692887}"/>
              </a:ext>
            </a:extLst>
          </p:cNvPr>
          <p:cNvSpPr txBox="1">
            <a:spLocks/>
          </p:cNvSpPr>
          <p:nvPr/>
        </p:nvSpPr>
        <p:spPr bwMode="auto">
          <a:xfrm>
            <a:off x="777240" y="1655063"/>
            <a:ext cx="10104119" cy="3754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3200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3200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667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 kern="1200">
                <a:solidFill>
                  <a:srgbClr val="1D1D1D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90000"/>
              </a:lnSpc>
              <a:buNone/>
              <a:defRPr/>
            </a:pPr>
            <a:endParaRPr lang="en-US" sz="28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875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theme/theme1.xml><?xml version="1.0" encoding="utf-8"?>
<a:theme xmlns:a="http://schemas.openxmlformats.org/drawingml/2006/main" name="NCEH_ATSDR_combined">
  <a:themeElements>
    <a:clrScheme name="Custom 1">
      <a:dk1>
        <a:srgbClr val="0F56DC"/>
      </a:dk1>
      <a:lt1>
        <a:srgbClr val="FFFFFF"/>
      </a:lt1>
      <a:dk2>
        <a:srgbClr val="0B7D58"/>
      </a:dk2>
      <a:lt2>
        <a:srgbClr val="FFFFFF"/>
      </a:lt2>
      <a:accent1>
        <a:srgbClr val="7F8080"/>
      </a:accent1>
      <a:accent2>
        <a:srgbClr val="546DB4"/>
      </a:accent2>
      <a:accent3>
        <a:srgbClr val="9A3B25"/>
      </a:accent3>
      <a:accent4>
        <a:srgbClr val="7F7F7F"/>
      </a:accent4>
      <a:accent5>
        <a:srgbClr val="0033A1"/>
      </a:accent5>
      <a:accent6>
        <a:srgbClr val="002060"/>
      </a:accent6>
      <a:hlink>
        <a:srgbClr val="0F56DC"/>
      </a:hlink>
      <a:folHlink>
        <a:srgbClr val="3077FF"/>
      </a:folHlink>
    </a:clrScheme>
    <a:fontScheme name="CDC Myriad Web Pro">
      <a:majorFont>
        <a:latin typeface="Myriad Web Pro"/>
        <a:ea typeface=""/>
        <a:cs typeface=""/>
      </a:majorFont>
      <a:minorFont>
        <a:latin typeface="Myriad Web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000000"/>
            </a:solidFill>
            <a:latin typeface="Calibri" panose="020F050202020403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ppt/theme/themeOverride2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ppt/theme/themeOverride3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ppt/theme/themeOverride4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ppt/theme/themeOverride5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ppt/theme/themeOverride6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ppt/theme/themeOverride7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ppt/theme/themeOverride8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ppt/theme/themeOverride9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ppt/theme/themeOverride10.xml><?xml version="1.0" encoding="utf-8"?>
<a:themeOverride xmlns:a="http://schemas.openxmlformats.org/drawingml/2006/main">
  <a:clrScheme name="Custom 1">
    <a:dk1>
      <a:srgbClr val="0F56DC"/>
    </a:dk1>
    <a:lt1>
      <a:srgbClr val="FFFFFF"/>
    </a:lt1>
    <a:dk2>
      <a:srgbClr val="0B7D58"/>
    </a:dk2>
    <a:lt2>
      <a:srgbClr val="FFFFFF"/>
    </a:lt2>
    <a:accent1>
      <a:srgbClr val="7F8080"/>
    </a:accent1>
    <a:accent2>
      <a:srgbClr val="546DB4"/>
    </a:accent2>
    <a:accent3>
      <a:srgbClr val="9A3B25"/>
    </a:accent3>
    <a:accent4>
      <a:srgbClr val="7F7F7F"/>
    </a:accent4>
    <a:accent5>
      <a:srgbClr val="0033A1"/>
    </a:accent5>
    <a:accent6>
      <a:srgbClr val="002060"/>
    </a:accent6>
    <a:hlink>
      <a:srgbClr val="0F56DC"/>
    </a:hlink>
    <a:folHlink>
      <a:srgbClr val="3077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443</Words>
  <Application>Microsoft Office PowerPoint</Application>
  <PresentationFormat>Widescreen</PresentationFormat>
  <Paragraphs>187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Black</vt:lpstr>
      <vt:lpstr>Aptos Narrow</vt:lpstr>
      <vt:lpstr>Arial</vt:lpstr>
      <vt:lpstr>Calibri</vt:lpstr>
      <vt:lpstr>Myriad Web Pro</vt:lpstr>
      <vt:lpstr>Wingdings</vt:lpstr>
      <vt:lpstr>NCEH_ATSDR_combined</vt:lpstr>
      <vt:lpstr>Monthly Case finding Reporting Template (Reporting period)</vt:lpstr>
      <vt:lpstr>Case finding activities implemented during the reporting period</vt:lpstr>
      <vt:lpstr>HIV Testing Services Updates – for Gen PoP During the reporting period</vt:lpstr>
      <vt:lpstr>HIV Testing Services Updates – Cumulative For Gen Pop</vt:lpstr>
      <vt:lpstr>HIV Testing Services Updates – For Persons at High Risk for HIV during the reporting period</vt:lpstr>
      <vt:lpstr>HIV Testing Services Updates – Cumulative for Persons at High Risk for HIV during the reporting period</vt:lpstr>
      <vt:lpstr>Yield by modality </vt:lpstr>
      <vt:lpstr>HTS by sex disaggregation </vt:lpstr>
      <vt:lpstr>HTS by Age disaggregation </vt:lpstr>
      <vt:lpstr>HIVST </vt:lpstr>
      <vt:lpstr>Status of RTKS (Regular RTKs and HIVST kits) per state</vt:lpstr>
      <vt:lpstr>HIV Retesting for Verification of Positives</vt:lpstr>
      <vt:lpstr>Updates on HTS Trainings per state</vt:lpstr>
      <vt:lpstr>Challenges and Recommendations D</vt:lpstr>
    </vt:vector>
  </TitlesOfParts>
  <Company>Centers for Disease Control and Prevention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Adamu-Oyegun, Scott (CDC/GHC/DGHT)</dc:creator>
  <cp:lastModifiedBy>Nneoma Onuoha</cp:lastModifiedBy>
  <cp:revision>17</cp:revision>
  <dcterms:created xsi:type="dcterms:W3CDTF">2026-10-19T10:24:04Z</dcterms:created>
  <dcterms:modified xsi:type="dcterms:W3CDTF">2026-10-26T12:46:59Z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94a7b8-f06c-4dfe-bdcc-9b548fd58c31_Enabled">
    <vt:lpwstr>true</vt:lpwstr>
  </property>
  <property fmtid="{D5CDD505-2E9C-101B-9397-08002B2CF9AE}" pid="3" name="MSIP_Label_7b94a7b8-f06c-4dfe-bdcc-9b548fd58c31_SetDate">
    <vt:lpwstr>2026-10-19T10:28:48Z</vt:lpwstr>
  </property>
  <property fmtid="{D5CDD505-2E9C-101B-9397-08002B2CF9AE}" pid="4" name="MSIP_Label_7b94a7b8-f06c-4dfe-bdcc-9b548fd58c31_Method">
    <vt:lpwstr>Privileged</vt:lpwstr>
  </property>
  <property fmtid="{D5CDD505-2E9C-101B-9397-08002B2CF9AE}" pid="5" name="MSIP_Label_7b94a7b8-f06c-4dfe-bdcc-9b548fd58c31_Name">
    <vt:lpwstr>7b94a7b8-f06c-4dfe-bdcc-9b548fd58c31</vt:lpwstr>
  </property>
  <property fmtid="{D5CDD505-2E9C-101B-9397-08002B2CF9AE}" pid="6" name="MSIP_Label_7b94a7b8-f06c-4dfe-bdcc-9b548fd58c31_SiteId">
    <vt:lpwstr>9ce70869-60db-44fd-abe8-d2767077fc8f</vt:lpwstr>
  </property>
  <property fmtid="{D5CDD505-2E9C-101B-9397-08002B2CF9AE}" pid="7" name="MSIP_Label_7b94a7b8-f06c-4dfe-bdcc-9b548fd58c31_ActionId">
    <vt:lpwstr>6ce49636-5907-4201-9cde-c95f46f63a2f</vt:lpwstr>
  </property>
  <property fmtid="{D5CDD505-2E9C-101B-9397-08002B2CF9AE}" pid="8" name="MSIP_Label_7b94a7b8-f06c-4dfe-bdcc-9b548fd58c31_ContentBits">
    <vt:lpwstr>0</vt:lpwstr>
  </property>
  <property fmtid="{D5CDD505-2E9C-101B-9397-08002B2CF9AE}" pid="9" name="MSIP_Label_7b94a7b8-f06c-4dfe-bdcc-9b548fd58c31_Tag">
    <vt:lpwstr>10, 0, 1, 1</vt:lpwstr>
  </property>
</Properties>
</file>